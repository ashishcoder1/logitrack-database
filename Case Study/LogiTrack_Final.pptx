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136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up the stock in every warehouse and sorted from highest to lowest. Read the top warehouse name and its total from your result. That warehouse is the busiest. If it is too full, we move some stock to a warehouse with free space.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each product's stock with its reorder level and calculated how many units it is short. Read the top product and its shortfall from your result. If we do not reorder it soon, it can run out and delay customer orders, so it comes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grouped vehicles by type and averaged their km per litre. Read the top vehicle type and its average from your result. Fuel is a big delivery cost, so using this type on long routes saves money.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every driver's rating with the average rating of all drivers. Read the list of drivers from your result. These drivers are more reliable, so we give them important deliveries and ask them to help train new drivers.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grouped deliveries by status and counted them with their total cost. Read how many are on time and how many are delayed or pending from your result. Delays cost extra money, so the company should find why they happen.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up the fuel cost of each route and ranked the routes. Read the rank 1 route and its cost from your result. Expensive routes reduce profit, so we check if a different vehicle or better planning can bring the cost down.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tm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tm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tmp"/><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tmp"/><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tmp"/><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tmp"/><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Icon panel"/>
          <p:cNvSpPr/>
          <p:nvPr/>
        </p:nvSpPr>
        <p:spPr>
          <a:xfrm>
            <a:off x="5486400" y="0"/>
            <a:ext cx="3657600" cy="5143500"/>
          </a:xfrm>
          <a:prstGeom prst="rect">
            <a:avLst/>
          </a:prstGeom>
          <a:solidFill>
            <a:schemeClr val="tx1">
              <a:lumMod val="75000"/>
              <a:lumOff val="25000"/>
            </a:schemeClr>
          </a:solidFill>
          <a:ln>
            <a:solidFill>
              <a:schemeClr val="bg2">
                <a:lumMod val="50000"/>
              </a:schemeClr>
            </a:solidFill>
          </a:ln>
        </p:spPr>
      </p:sp>
      <p:pic>
        <p:nvPicPr>
          <p:cNvPr id="17" name="Picture 16">
            <a:extLst>
              <a:ext uri="{FF2B5EF4-FFF2-40B4-BE49-F238E27FC236}">
                <a16:creationId xmlns:a16="http://schemas.microsoft.com/office/drawing/2014/main" id="{66611386-ABD3-6FC9-BAD2-F7E7AD6ADE85}"/>
              </a:ext>
            </a:extLst>
          </p:cNvPr>
          <p:cNvPicPr>
            <a:picLocks noChangeAspect="1"/>
          </p:cNvPicPr>
          <p:nvPr/>
        </p:nvPicPr>
        <p:blipFill>
          <a:blip r:embed="rId3"/>
          <a:stretch>
            <a:fillRect/>
          </a:stretch>
        </p:blipFill>
        <p:spPr>
          <a:xfrm>
            <a:off x="1" y="0"/>
            <a:ext cx="5486400" cy="5143500"/>
          </a:xfrm>
          <a:prstGeom prst="rect">
            <a:avLst/>
          </a:prstGeom>
          <a:ln>
            <a:noFill/>
          </a:ln>
          <a:effectLst>
            <a:outerShdw blurRad="292100" dist="139700" dir="2700000" algn="tl" rotWithShape="0">
              <a:srgbClr val="333333">
                <a:alpha val="65000"/>
              </a:srgbClr>
            </a:outerShdw>
          </a:effectLst>
        </p:spPr>
      </p:pic>
      <p:sp>
        <p:nvSpPr>
          <p:cNvPr id="4" name="Text 2"/>
          <p:cNvSpPr txBox="1"/>
          <p:nvPr/>
        </p:nvSpPr>
        <p:spPr>
          <a:xfrm>
            <a:off x="640080" y="1143000"/>
            <a:ext cx="4572000" cy="963636"/>
          </a:xfrm>
          <a:prstGeom prst="rect">
            <a:avLst/>
          </a:prstGeom>
          <a:noFill/>
          <a:ln/>
        </p:spPr>
        <p:txBody>
          <a:bodyPr wrap="square" lIns="0" tIns="0" rIns="0" bIns="0" rtlCol="0" anchor="ctr"/>
          <a:lstStyle/>
          <a:p>
            <a:pPr marL="0" indent="0">
              <a:buNone/>
            </a:pPr>
            <a:r>
              <a:rPr lang="en-US" sz="6000" b="1" dirty="0">
                <a:effectLst>
                  <a:outerShdw blurRad="38100" dist="38100" dir="2700000" algn="tl">
                    <a:srgbClr val="000000">
                      <a:alpha val="43137"/>
                    </a:srgbClr>
                  </a:outerShdw>
                </a:effectLst>
                <a:latin typeface="Century Schoolbook" pitchFamily="34" charset="0"/>
                <a:ea typeface="Century Schoolbook" pitchFamily="34" charset="-122"/>
                <a:cs typeface="Century Schoolbook" pitchFamily="34" charset="-120"/>
              </a:rPr>
              <a:t>LogiTrack</a:t>
            </a:r>
            <a:endParaRPr lang="en-US" sz="6000" dirty="0">
              <a:effectLst>
                <a:outerShdw blurRad="38100" dist="38100" dir="2700000" algn="tl">
                  <a:srgbClr val="000000">
                    <a:alpha val="43137"/>
                  </a:srgbClr>
                </a:outerShdw>
              </a:effectLst>
            </a:endParaRPr>
          </a:p>
        </p:txBody>
      </p:sp>
      <p:sp>
        <p:nvSpPr>
          <p:cNvPr id="5" name="Text 3"/>
          <p:cNvSpPr txBox="1"/>
          <p:nvPr/>
        </p:nvSpPr>
        <p:spPr>
          <a:xfrm>
            <a:off x="640080" y="2106636"/>
            <a:ext cx="4572000" cy="822960"/>
          </a:xfrm>
          <a:prstGeom prst="rect">
            <a:avLst/>
          </a:prstGeom>
          <a:noFill/>
          <a:ln/>
        </p:spPr>
        <p:txBody>
          <a:bodyPr wrap="square" lIns="0" tIns="0" rIns="0" bIns="0" rtlCol="0" anchor="t"/>
          <a:lstStyle/>
          <a:p>
            <a:pPr marL="0" indent="0">
              <a:buNone/>
            </a:pPr>
            <a:r>
              <a:rPr lang="en-US" sz="2200" dirty="0">
                <a:ln w="0"/>
                <a:solidFill>
                  <a:schemeClr val="accent1"/>
                </a:solidFill>
                <a:effectLst>
                  <a:outerShdw blurRad="38100" dist="25400" dir="5400000" algn="ctr" rotWithShape="0">
                    <a:srgbClr val="6E747A">
                      <a:alpha val="43000"/>
                    </a:srgbClr>
                  </a:outerShdw>
                </a:effectLst>
              </a:rPr>
              <a:t>Supply Chain &amp; Logistics</a:t>
            </a:r>
          </a:p>
          <a:p>
            <a:pPr marL="0" indent="0">
              <a:buNone/>
            </a:pPr>
            <a:r>
              <a:rPr lang="en-US" sz="2200" dirty="0">
                <a:ln w="0"/>
                <a:solidFill>
                  <a:schemeClr val="accent1"/>
                </a:solidFill>
                <a:effectLst>
                  <a:outerShdw blurRad="38100" dist="25400" dir="5400000" algn="ctr" rotWithShape="0">
                    <a:srgbClr val="6E747A">
                      <a:alpha val="43000"/>
                    </a:srgbClr>
                  </a:outerShdw>
                </a:effectLst>
              </a:rPr>
              <a:t>SQL Analysis</a:t>
            </a:r>
          </a:p>
        </p:txBody>
      </p:sp>
      <p:sp>
        <p:nvSpPr>
          <p:cNvPr id="6" name="Text 4"/>
          <p:cNvSpPr txBox="1"/>
          <p:nvPr/>
        </p:nvSpPr>
        <p:spPr>
          <a:xfrm>
            <a:off x="640080" y="2971800"/>
            <a:ext cx="4572000" cy="320040"/>
          </a:xfrm>
          <a:prstGeom prst="rect">
            <a:avLst/>
          </a:prstGeom>
          <a:noFill/>
          <a:ln/>
        </p:spPr>
        <p:txBody>
          <a:bodyPr wrap="square" lIns="0" tIns="0" rIns="0" bIns="0" rtlCol="0" anchor="ctr"/>
          <a:lstStyle/>
          <a:p>
            <a:pPr marL="0" indent="0">
              <a:buNone/>
            </a:pPr>
            <a:r>
              <a:rPr lang="en-US" sz="1400" b="1" dirty="0">
                <a:solidFill>
                  <a:schemeClr val="accent1"/>
                </a:solidFill>
              </a:rPr>
              <a:t>MySQL  |  SQL  |  MySQL Workbench</a:t>
            </a:r>
            <a:endParaRPr lang="en-US" sz="1400" dirty="0"/>
          </a:p>
        </p:txBody>
      </p:sp>
      <p:sp>
        <p:nvSpPr>
          <p:cNvPr id="7" name="Text 5"/>
          <p:cNvSpPr txBox="1"/>
          <p:nvPr/>
        </p:nvSpPr>
        <p:spPr>
          <a:xfrm>
            <a:off x="640080" y="3535386"/>
            <a:ext cx="4572000" cy="320040"/>
          </a:xfrm>
          <a:prstGeom prst="rect">
            <a:avLst/>
          </a:prstGeom>
          <a:noFill/>
          <a:ln/>
        </p:spPr>
        <p:txBody>
          <a:bodyPr wrap="square" lIns="0" tIns="0" rIns="0" bIns="0" rtlCol="0" anchor="ctr"/>
          <a:lstStyle/>
          <a:p>
            <a:pPr marL="0" indent="0">
              <a:buNone/>
            </a:pPr>
            <a:r>
              <a:rPr lang="en-US" sz="1400" dirty="0">
                <a:solidFill>
                  <a:schemeClr val="bg1"/>
                </a:solidFill>
              </a:rPr>
              <a:t>Presented by Ashish</a:t>
            </a:r>
            <a:endParaRPr lang="en-US" sz="1400" dirty="0"/>
          </a:p>
        </p:txBody>
      </p:sp>
      <p:sp>
        <p:nvSpPr>
          <p:cNvPr id="8" name="Hero circle"/>
          <p:cNvSpPr/>
          <p:nvPr/>
        </p:nvSpPr>
        <p:spPr>
          <a:xfrm>
            <a:off x="5897880" y="1188720"/>
            <a:ext cx="2834640" cy="2834640"/>
          </a:xfrm>
          <a:prstGeom prst="ellipse">
            <a:avLst/>
          </a:prstGeom>
          <a:ln/>
        </p:spPr>
        <p:style>
          <a:lnRef idx="0">
            <a:schemeClr val="dk1"/>
          </a:lnRef>
          <a:fillRef idx="3">
            <a:schemeClr val="dk1"/>
          </a:fillRef>
          <a:effectRef idx="3">
            <a:schemeClr val="dk1"/>
          </a:effectRef>
          <a:fontRef idx="minor">
            <a:schemeClr val="lt1"/>
          </a:fontRef>
        </p:style>
      </p:sp>
      <p:pic>
        <p:nvPicPr>
          <p:cNvPr id="9" name="Image 0" descr="Delivery truck"/>
          <p:cNvPicPr>
            <a:picLocks noChangeAspect="1"/>
          </p:cNvPicPr>
          <p:nvPr/>
        </p:nvPicPr>
        <p:blipFill>
          <a:blip r:embed="rId4"/>
          <a:stretch>
            <a:fillRect/>
          </a:stretch>
        </p:blipFill>
        <p:spPr>
          <a:xfrm>
            <a:off x="6583680" y="1874520"/>
            <a:ext cx="1463040" cy="1463040"/>
          </a:xfrm>
          <a:prstGeom prst="rect">
            <a:avLst/>
          </a:prstGeom>
        </p:spPr>
      </p:pic>
      <p:sp>
        <p:nvSpPr>
          <p:cNvPr id="10" name="Icon circle"/>
          <p:cNvSpPr/>
          <p:nvPr/>
        </p:nvSpPr>
        <p:spPr>
          <a:xfrm>
            <a:off x="5715000" y="411480"/>
            <a:ext cx="822960" cy="822960"/>
          </a:xfrm>
          <a:prstGeom prst="ellipse">
            <a:avLst/>
          </a:prstGeom>
          <a:solidFill>
            <a:schemeClr val="accent2"/>
          </a:solidFill>
          <a:ln/>
        </p:spPr>
      </p:sp>
      <p:pic>
        <p:nvPicPr>
          <p:cNvPr id="11" name="Image 1" descr="Warehouse icon"/>
          <p:cNvPicPr>
            <a:picLocks noChangeAspect="1"/>
          </p:cNvPicPr>
          <p:nvPr/>
        </p:nvPicPr>
        <p:blipFill>
          <a:blip r:embed="rId5"/>
          <a:stretch>
            <a:fillRect/>
          </a:stretch>
        </p:blipFill>
        <p:spPr>
          <a:xfrm>
            <a:off x="5937199" y="633679"/>
            <a:ext cx="378562" cy="378562"/>
          </a:xfrm>
          <a:prstGeom prst="rect">
            <a:avLst/>
          </a:prstGeom>
        </p:spPr>
      </p:pic>
      <p:sp>
        <p:nvSpPr>
          <p:cNvPr id="12" name="Icon circle"/>
          <p:cNvSpPr/>
          <p:nvPr/>
        </p:nvSpPr>
        <p:spPr>
          <a:xfrm>
            <a:off x="7955280" y="3977640"/>
            <a:ext cx="822960" cy="822960"/>
          </a:xfrm>
          <a:prstGeom prst="ellipse">
            <a:avLst/>
          </a:prstGeom>
          <a:solidFill>
            <a:schemeClr val="accent3"/>
          </a:solidFill>
          <a:ln/>
        </p:spPr>
      </p:sp>
      <p:pic>
        <p:nvPicPr>
          <p:cNvPr id="13" name="Image 2" descr="BoxOpen icon"/>
          <p:cNvPicPr>
            <a:picLocks noChangeAspect="1"/>
          </p:cNvPicPr>
          <p:nvPr/>
        </p:nvPicPr>
        <p:blipFill>
          <a:blip r:embed="rId6"/>
          <a:stretch>
            <a:fillRect/>
          </a:stretch>
        </p:blipFill>
        <p:spPr>
          <a:xfrm>
            <a:off x="8177479" y="4199839"/>
            <a:ext cx="378562" cy="378562"/>
          </a:xfrm>
          <a:prstGeom prst="rect">
            <a:avLst/>
          </a:prstGeom>
        </p:spPr>
      </p:pic>
      <p:sp>
        <p:nvSpPr>
          <p:cNvPr id="14" name="Icon circle"/>
          <p:cNvSpPr/>
          <p:nvPr/>
        </p:nvSpPr>
        <p:spPr>
          <a:xfrm>
            <a:off x="8092440" y="411480"/>
            <a:ext cx="731520" cy="731520"/>
          </a:xfrm>
          <a:prstGeom prst="ellipse">
            <a:avLst/>
          </a:prstGeom>
          <a:solidFill>
            <a:schemeClr val="accent4"/>
          </a:solidFill>
          <a:ln/>
        </p:spPr>
      </p:sp>
      <p:pic>
        <p:nvPicPr>
          <p:cNvPr id="15" name="Image 3" descr="Route icon"/>
          <p:cNvPicPr>
            <a:picLocks noChangeAspect="1"/>
          </p:cNvPicPr>
          <p:nvPr/>
        </p:nvPicPr>
        <p:blipFill>
          <a:blip r:embed="rId7"/>
          <a:stretch>
            <a:fillRect/>
          </a:stretch>
        </p:blipFill>
        <p:spPr>
          <a:xfrm>
            <a:off x="8289950" y="608990"/>
            <a:ext cx="336499" cy="3364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0EC9CE63-40EF-92FA-87E8-902B848E6B03}"/>
              </a:ext>
            </a:extLst>
          </p:cNvPr>
          <p:cNvPicPr>
            <a:picLocks noChangeAspect="1"/>
          </p:cNvPicPr>
          <p:nvPr/>
        </p:nvPicPr>
        <p:blipFill>
          <a:blip r:embed="rId3">
            <a:alphaModFix amt="50000"/>
          </a:blip>
          <a:stretch>
            <a:fillRect/>
          </a:stretch>
        </p:blipFill>
        <p:spPr>
          <a:xfrm>
            <a:off x="0" y="0"/>
            <a:ext cx="9144000" cy="5143500"/>
          </a:xfrm>
          <a:prstGeom prst="rect">
            <a:avLst/>
          </a:prstGeom>
          <a:ln>
            <a:noFill/>
          </a:ln>
          <a:effectLst>
            <a:softEdge rad="112500"/>
          </a:effectLst>
        </p:spPr>
      </p:pic>
      <p:sp>
        <p:nvSpPr>
          <p:cNvPr id="2" name="Text 0"/>
          <p:cNvSpPr txBox="1"/>
          <p:nvPr/>
        </p:nvSpPr>
        <p:spPr>
          <a:xfrm>
            <a:off x="548640" y="320040"/>
            <a:ext cx="8046720" cy="640080"/>
          </a:xfrm>
          <a:prstGeom prst="rect">
            <a:avLst/>
          </a:prstGeom>
          <a:noFill/>
          <a:ln/>
        </p:spPr>
        <p:txBody>
          <a:bodyPr wrap="square" lIns="0" tIns="0" rIns="0" bIns="0" rtlCol="0" anchor="ctr"/>
          <a:lstStyle/>
          <a:p>
            <a:pPr marL="0" indent="0">
              <a:buNone/>
            </a:pPr>
            <a:r>
              <a:rPr lang="en-US" sz="3600" b="1" dirty="0">
                <a:solidFill>
                  <a:schemeClr val="bg2">
                    <a:lumMod val="10000"/>
                  </a:schemeClr>
                </a:solidFill>
                <a:latin typeface="Century Schoolbook" pitchFamily="34" charset="0"/>
                <a:ea typeface="Century Schoolbook" pitchFamily="34" charset="-122"/>
                <a:cs typeface="Century Schoolbook" pitchFamily="34" charset="-120"/>
              </a:rPr>
              <a:t>Project at a Glance</a:t>
            </a:r>
            <a:endParaRPr lang="en-US" sz="3600" dirty="0">
              <a:solidFill>
                <a:schemeClr val="bg2">
                  <a:lumMod val="10000"/>
                </a:schemeClr>
              </a:solidFill>
            </a:endParaRPr>
          </a:p>
        </p:txBody>
      </p:sp>
      <p:sp>
        <p:nvSpPr>
          <p:cNvPr id="3" name="Stat tile"/>
          <p:cNvSpPr/>
          <p:nvPr/>
        </p:nvSpPr>
        <p:spPr>
          <a:xfrm>
            <a:off x="548640" y="1188720"/>
            <a:ext cx="2560320" cy="1371600"/>
          </a:xfrm>
          <a:prstGeom prst="roundRect">
            <a:avLst>
              <a:gd name="adj" fmla="val 5333"/>
            </a:avLst>
          </a:prstGeom>
          <a:ln/>
        </p:spPr>
        <p:style>
          <a:lnRef idx="0">
            <a:schemeClr val="accent2"/>
          </a:lnRef>
          <a:fillRef idx="3">
            <a:schemeClr val="accent2"/>
          </a:fillRef>
          <a:effectRef idx="3">
            <a:schemeClr val="accent2"/>
          </a:effectRef>
          <a:fontRef idx="minor">
            <a:schemeClr val="lt1"/>
          </a:fontRef>
        </p:style>
      </p:sp>
      <p:sp>
        <p:nvSpPr>
          <p:cNvPr id="4" name="Text 2"/>
          <p:cNvSpPr txBox="1"/>
          <p:nvPr/>
        </p:nvSpPr>
        <p:spPr>
          <a:xfrm>
            <a:off x="777240" y="1280160"/>
            <a:ext cx="2103120" cy="777240"/>
          </a:xfrm>
          <a:prstGeom prst="rect">
            <a:avLst/>
          </a:prstGeom>
          <a:noFill/>
          <a:ln/>
        </p:spPr>
        <p:txBody>
          <a:bodyPr wrap="square" lIns="0" tIns="0" rIns="0" bIns="0" rtlCol="0" anchor="ctr"/>
          <a:lstStyle/>
          <a:p>
            <a:pPr marL="0" indent="0">
              <a:buNone/>
            </a:pPr>
            <a:r>
              <a:rPr lang="en-US" sz="4800" b="1" dirty="0">
                <a:solidFill>
                  <a:schemeClr val="bg1"/>
                </a:solidFill>
                <a:latin typeface="Century Schoolbook" pitchFamily="34" charset="0"/>
                <a:ea typeface="Century Schoolbook" pitchFamily="34" charset="-122"/>
                <a:cs typeface="Century Schoolbook" pitchFamily="34" charset="-120"/>
              </a:rPr>
              <a:t>9</a:t>
            </a:r>
            <a:endParaRPr lang="en-US" sz="4800" dirty="0"/>
          </a:p>
        </p:txBody>
      </p:sp>
      <p:sp>
        <p:nvSpPr>
          <p:cNvPr id="5" name="Text 3"/>
          <p:cNvSpPr txBox="1"/>
          <p:nvPr/>
        </p:nvSpPr>
        <p:spPr>
          <a:xfrm>
            <a:off x="777240" y="2011680"/>
            <a:ext cx="2103120" cy="411480"/>
          </a:xfrm>
          <a:prstGeom prst="rect">
            <a:avLst/>
          </a:prstGeom>
          <a:noFill/>
          <a:ln/>
        </p:spPr>
        <p:txBody>
          <a:bodyPr wrap="square" lIns="0" tIns="0" rIns="0" bIns="0" rtlCol="0" anchor="ctr"/>
          <a:lstStyle/>
          <a:p>
            <a:pPr marL="0" indent="0">
              <a:buNone/>
            </a:pPr>
            <a:r>
              <a:rPr lang="en-US" sz="1400" dirty="0">
                <a:solidFill>
                  <a:schemeClr val="bg1"/>
                </a:solidFill>
              </a:rPr>
              <a:t>relational tables</a:t>
            </a:r>
            <a:endParaRPr lang="en-US" sz="1400" dirty="0"/>
          </a:p>
        </p:txBody>
      </p:sp>
      <p:sp>
        <p:nvSpPr>
          <p:cNvPr id="6" name="Stat tile"/>
          <p:cNvSpPr/>
          <p:nvPr/>
        </p:nvSpPr>
        <p:spPr>
          <a:xfrm>
            <a:off x="3291840" y="1188720"/>
            <a:ext cx="2560320" cy="1371600"/>
          </a:xfrm>
          <a:prstGeom prst="roundRect">
            <a:avLst>
              <a:gd name="adj" fmla="val 5333"/>
            </a:avLst>
          </a:prstGeom>
          <a:ln/>
        </p:spPr>
        <p:style>
          <a:lnRef idx="0">
            <a:schemeClr val="accent4"/>
          </a:lnRef>
          <a:fillRef idx="3">
            <a:schemeClr val="accent4"/>
          </a:fillRef>
          <a:effectRef idx="3">
            <a:schemeClr val="accent4"/>
          </a:effectRef>
          <a:fontRef idx="minor">
            <a:schemeClr val="lt1"/>
          </a:fontRef>
        </p:style>
      </p:sp>
      <p:sp>
        <p:nvSpPr>
          <p:cNvPr id="7" name="Text 5"/>
          <p:cNvSpPr txBox="1"/>
          <p:nvPr/>
        </p:nvSpPr>
        <p:spPr>
          <a:xfrm>
            <a:off x="3520440" y="1280160"/>
            <a:ext cx="2103120" cy="777240"/>
          </a:xfrm>
          <a:prstGeom prst="rect">
            <a:avLst/>
          </a:prstGeom>
          <a:noFill/>
          <a:ln/>
        </p:spPr>
        <p:txBody>
          <a:bodyPr wrap="square" lIns="0" tIns="0" rIns="0" bIns="0" rtlCol="0" anchor="ctr"/>
          <a:lstStyle/>
          <a:p>
            <a:pPr marL="0" indent="0">
              <a:buNone/>
            </a:pPr>
            <a:r>
              <a:rPr lang="en-US" sz="4800" b="1" dirty="0">
                <a:solidFill>
                  <a:schemeClr val="bg1"/>
                </a:solidFill>
                <a:latin typeface="Century Schoolbook" pitchFamily="34" charset="0"/>
                <a:ea typeface="Century Schoolbook" pitchFamily="34" charset="-122"/>
                <a:cs typeface="Century Schoolbook" pitchFamily="34" charset="-120"/>
              </a:rPr>
              <a:t>6</a:t>
            </a:r>
            <a:endParaRPr lang="en-US" sz="4800" dirty="0"/>
          </a:p>
        </p:txBody>
      </p:sp>
      <p:sp>
        <p:nvSpPr>
          <p:cNvPr id="8" name="Text 6"/>
          <p:cNvSpPr txBox="1"/>
          <p:nvPr/>
        </p:nvSpPr>
        <p:spPr>
          <a:xfrm>
            <a:off x="3520440" y="2011680"/>
            <a:ext cx="2103120" cy="411480"/>
          </a:xfrm>
          <a:prstGeom prst="rect">
            <a:avLst/>
          </a:prstGeom>
          <a:noFill/>
          <a:ln/>
        </p:spPr>
        <p:txBody>
          <a:bodyPr wrap="square" lIns="0" tIns="0" rIns="0" bIns="0" rtlCol="0" anchor="ctr"/>
          <a:lstStyle/>
          <a:p>
            <a:pPr marL="0" indent="0">
              <a:buNone/>
            </a:pPr>
            <a:r>
              <a:rPr lang="en-US" sz="1400" dirty="0">
                <a:solidFill>
                  <a:schemeClr val="bg1"/>
                </a:solidFill>
              </a:rPr>
              <a:t>sample records per table</a:t>
            </a:r>
            <a:endParaRPr lang="en-US" sz="1400" dirty="0"/>
          </a:p>
        </p:txBody>
      </p:sp>
      <p:sp>
        <p:nvSpPr>
          <p:cNvPr id="9" name="Stat tile"/>
          <p:cNvSpPr/>
          <p:nvPr/>
        </p:nvSpPr>
        <p:spPr>
          <a:xfrm>
            <a:off x="6035040" y="1188720"/>
            <a:ext cx="2560320" cy="1371600"/>
          </a:xfrm>
          <a:prstGeom prst="roundRect">
            <a:avLst>
              <a:gd name="adj" fmla="val 5333"/>
            </a:avLst>
          </a:prstGeom>
          <a:ln/>
        </p:spPr>
        <p:style>
          <a:lnRef idx="0">
            <a:schemeClr val="accent3"/>
          </a:lnRef>
          <a:fillRef idx="3">
            <a:schemeClr val="accent3"/>
          </a:fillRef>
          <a:effectRef idx="3">
            <a:schemeClr val="accent3"/>
          </a:effectRef>
          <a:fontRef idx="minor">
            <a:schemeClr val="lt1"/>
          </a:fontRef>
        </p:style>
      </p:sp>
      <p:sp>
        <p:nvSpPr>
          <p:cNvPr id="10" name="Text 8"/>
          <p:cNvSpPr txBox="1"/>
          <p:nvPr/>
        </p:nvSpPr>
        <p:spPr>
          <a:xfrm>
            <a:off x="6263640" y="1280160"/>
            <a:ext cx="2103120" cy="777240"/>
          </a:xfrm>
          <a:prstGeom prst="rect">
            <a:avLst/>
          </a:prstGeom>
          <a:noFill/>
          <a:ln/>
        </p:spPr>
        <p:txBody>
          <a:bodyPr wrap="square" lIns="0" tIns="0" rIns="0" bIns="0" rtlCol="0" anchor="ctr"/>
          <a:lstStyle/>
          <a:p>
            <a:pPr marL="0" indent="0">
              <a:buNone/>
            </a:pPr>
            <a:r>
              <a:rPr lang="en-US" sz="4800" b="1" dirty="0">
                <a:solidFill>
                  <a:schemeClr val="bg1"/>
                </a:solidFill>
                <a:latin typeface="Century Schoolbook" pitchFamily="34" charset="0"/>
                <a:ea typeface="Century Schoolbook" pitchFamily="34" charset="-122"/>
                <a:cs typeface="Century Schoolbook" pitchFamily="34" charset="-120"/>
              </a:rPr>
              <a:t>6</a:t>
            </a:r>
            <a:endParaRPr lang="en-US" sz="4800" dirty="0"/>
          </a:p>
        </p:txBody>
      </p:sp>
      <p:sp>
        <p:nvSpPr>
          <p:cNvPr id="11" name="Text 9"/>
          <p:cNvSpPr txBox="1"/>
          <p:nvPr/>
        </p:nvSpPr>
        <p:spPr>
          <a:xfrm>
            <a:off x="6263640" y="2011680"/>
            <a:ext cx="2103120" cy="411480"/>
          </a:xfrm>
          <a:prstGeom prst="rect">
            <a:avLst/>
          </a:prstGeom>
          <a:noFill/>
          <a:ln/>
        </p:spPr>
        <p:txBody>
          <a:bodyPr wrap="square" lIns="0" tIns="0" rIns="0" bIns="0" rtlCol="0" anchor="ctr"/>
          <a:lstStyle/>
          <a:p>
            <a:pPr marL="0" indent="0">
              <a:buNone/>
            </a:pPr>
            <a:r>
              <a:rPr lang="en-US" sz="1400" dirty="0">
                <a:solidFill>
                  <a:schemeClr val="bg1"/>
                </a:solidFill>
              </a:rPr>
              <a:t>SQL analyses</a:t>
            </a:r>
            <a:endParaRPr lang="en-US" sz="1400" dirty="0"/>
          </a:p>
        </p:txBody>
      </p:sp>
      <p:sp>
        <p:nvSpPr>
          <p:cNvPr id="12" name="Text 10"/>
          <p:cNvSpPr txBox="1"/>
          <p:nvPr/>
        </p:nvSpPr>
        <p:spPr>
          <a:xfrm>
            <a:off x="548640" y="2834640"/>
            <a:ext cx="8046720" cy="274320"/>
          </a:xfrm>
          <a:prstGeom prst="rect">
            <a:avLst/>
          </a:prstGeom>
          <a:solidFill>
            <a:schemeClr val="bg2">
              <a:lumMod val="10000"/>
            </a:schemeClr>
          </a:solidFill>
          <a:ln/>
        </p:spPr>
        <p:txBody>
          <a:bodyPr wrap="square" lIns="0" tIns="0" rIns="0" bIns="0" rtlCol="0" anchor="ctr"/>
          <a:lstStyle/>
          <a:p>
            <a:pPr marL="0" indent="0" algn="ctr">
              <a:buNone/>
            </a:pPr>
            <a:r>
              <a:rPr lang="en-US" b="1" dirty="0">
                <a:solidFill>
                  <a:schemeClr val="bg1"/>
                </a:solidFill>
              </a:rPr>
              <a:t>Tables in the database</a:t>
            </a:r>
          </a:p>
        </p:txBody>
      </p:sp>
      <p:sp>
        <p:nvSpPr>
          <p:cNvPr id="13" name="Table chip"/>
          <p:cNvSpPr/>
          <p:nvPr/>
        </p:nvSpPr>
        <p:spPr>
          <a:xfrm>
            <a:off x="548640" y="3200400"/>
            <a:ext cx="850392" cy="365760"/>
          </a:xfrm>
          <a:prstGeom prst="roundRect">
            <a:avLst>
              <a:gd name="adj" fmla="val 50000"/>
            </a:avLst>
          </a:prstGeom>
          <a:solidFill>
            <a:schemeClr val="bg2"/>
          </a:solidFill>
          <a:ln/>
        </p:spPr>
      </p:sp>
      <p:sp>
        <p:nvSpPr>
          <p:cNvPr id="14" name="Text 12"/>
          <p:cNvSpPr txBox="1"/>
          <p:nvPr/>
        </p:nvSpPr>
        <p:spPr>
          <a:xfrm>
            <a:off x="548640"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Warehouses</a:t>
            </a:r>
            <a:endParaRPr lang="en-US" sz="950" dirty="0"/>
          </a:p>
        </p:txBody>
      </p:sp>
      <p:sp>
        <p:nvSpPr>
          <p:cNvPr id="15" name="Table chip"/>
          <p:cNvSpPr/>
          <p:nvPr/>
        </p:nvSpPr>
        <p:spPr>
          <a:xfrm>
            <a:off x="1453896" y="3200400"/>
            <a:ext cx="850392" cy="365760"/>
          </a:xfrm>
          <a:prstGeom prst="roundRect">
            <a:avLst>
              <a:gd name="adj" fmla="val 50000"/>
            </a:avLst>
          </a:prstGeom>
          <a:solidFill>
            <a:schemeClr val="bg2"/>
          </a:solidFill>
          <a:ln/>
        </p:spPr>
      </p:sp>
      <p:sp>
        <p:nvSpPr>
          <p:cNvPr id="16" name="Text 14"/>
          <p:cNvSpPr txBox="1"/>
          <p:nvPr/>
        </p:nvSpPr>
        <p:spPr>
          <a:xfrm>
            <a:off x="1453896"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Products</a:t>
            </a:r>
            <a:endParaRPr lang="en-US" sz="950" dirty="0"/>
          </a:p>
        </p:txBody>
      </p:sp>
      <p:sp>
        <p:nvSpPr>
          <p:cNvPr id="17" name="Table chip"/>
          <p:cNvSpPr/>
          <p:nvPr/>
        </p:nvSpPr>
        <p:spPr>
          <a:xfrm>
            <a:off x="2359152" y="3200400"/>
            <a:ext cx="850392" cy="365760"/>
          </a:xfrm>
          <a:prstGeom prst="roundRect">
            <a:avLst>
              <a:gd name="adj" fmla="val 50000"/>
            </a:avLst>
          </a:prstGeom>
          <a:solidFill>
            <a:schemeClr val="bg2"/>
          </a:solidFill>
          <a:ln/>
        </p:spPr>
      </p:sp>
      <p:sp>
        <p:nvSpPr>
          <p:cNvPr id="18" name="Text 16"/>
          <p:cNvSpPr txBox="1"/>
          <p:nvPr/>
        </p:nvSpPr>
        <p:spPr>
          <a:xfrm>
            <a:off x="2359152"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Inventory</a:t>
            </a:r>
            <a:endParaRPr lang="en-US" sz="950" dirty="0"/>
          </a:p>
        </p:txBody>
      </p:sp>
      <p:sp>
        <p:nvSpPr>
          <p:cNvPr id="19" name="Table chip"/>
          <p:cNvSpPr/>
          <p:nvPr/>
        </p:nvSpPr>
        <p:spPr>
          <a:xfrm>
            <a:off x="3264408" y="3200400"/>
            <a:ext cx="850392" cy="365760"/>
          </a:xfrm>
          <a:prstGeom prst="roundRect">
            <a:avLst>
              <a:gd name="adj" fmla="val 50000"/>
            </a:avLst>
          </a:prstGeom>
          <a:solidFill>
            <a:schemeClr val="bg2"/>
          </a:solidFill>
          <a:ln/>
        </p:spPr>
      </p:sp>
      <p:sp>
        <p:nvSpPr>
          <p:cNvPr id="20" name="Text 18"/>
          <p:cNvSpPr txBox="1"/>
          <p:nvPr/>
        </p:nvSpPr>
        <p:spPr>
          <a:xfrm>
            <a:off x="3264408"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Customers</a:t>
            </a:r>
            <a:endParaRPr lang="en-US" sz="950" dirty="0"/>
          </a:p>
        </p:txBody>
      </p:sp>
      <p:sp>
        <p:nvSpPr>
          <p:cNvPr id="21" name="Table chip"/>
          <p:cNvSpPr/>
          <p:nvPr/>
        </p:nvSpPr>
        <p:spPr>
          <a:xfrm>
            <a:off x="4169664" y="3200400"/>
            <a:ext cx="850392" cy="365760"/>
          </a:xfrm>
          <a:prstGeom prst="roundRect">
            <a:avLst>
              <a:gd name="adj" fmla="val 50000"/>
            </a:avLst>
          </a:prstGeom>
          <a:solidFill>
            <a:schemeClr val="bg2"/>
          </a:solidFill>
          <a:ln/>
        </p:spPr>
      </p:sp>
      <p:sp>
        <p:nvSpPr>
          <p:cNvPr id="22" name="Text 20"/>
          <p:cNvSpPr txBox="1"/>
          <p:nvPr/>
        </p:nvSpPr>
        <p:spPr>
          <a:xfrm>
            <a:off x="4169664"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Orders</a:t>
            </a:r>
            <a:endParaRPr lang="en-US" sz="950" dirty="0"/>
          </a:p>
        </p:txBody>
      </p:sp>
      <p:sp>
        <p:nvSpPr>
          <p:cNvPr id="23" name="Table chip"/>
          <p:cNvSpPr/>
          <p:nvPr/>
        </p:nvSpPr>
        <p:spPr>
          <a:xfrm>
            <a:off x="5074920" y="3200400"/>
            <a:ext cx="850392" cy="365760"/>
          </a:xfrm>
          <a:prstGeom prst="roundRect">
            <a:avLst>
              <a:gd name="adj" fmla="val 50000"/>
            </a:avLst>
          </a:prstGeom>
          <a:solidFill>
            <a:schemeClr val="bg2"/>
          </a:solidFill>
          <a:ln/>
        </p:spPr>
      </p:sp>
      <p:sp>
        <p:nvSpPr>
          <p:cNvPr id="24" name="Text 22"/>
          <p:cNvSpPr txBox="1"/>
          <p:nvPr/>
        </p:nvSpPr>
        <p:spPr>
          <a:xfrm>
            <a:off x="5074920"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Vehicles</a:t>
            </a:r>
            <a:endParaRPr lang="en-US" sz="950" dirty="0"/>
          </a:p>
        </p:txBody>
      </p:sp>
      <p:sp>
        <p:nvSpPr>
          <p:cNvPr id="25" name="Table chip"/>
          <p:cNvSpPr/>
          <p:nvPr/>
        </p:nvSpPr>
        <p:spPr>
          <a:xfrm>
            <a:off x="5980176" y="3200400"/>
            <a:ext cx="850392" cy="365760"/>
          </a:xfrm>
          <a:prstGeom prst="roundRect">
            <a:avLst>
              <a:gd name="adj" fmla="val 50000"/>
            </a:avLst>
          </a:prstGeom>
          <a:solidFill>
            <a:schemeClr val="bg2"/>
          </a:solidFill>
          <a:ln/>
        </p:spPr>
      </p:sp>
      <p:sp>
        <p:nvSpPr>
          <p:cNvPr id="26" name="Text 24"/>
          <p:cNvSpPr txBox="1"/>
          <p:nvPr/>
        </p:nvSpPr>
        <p:spPr>
          <a:xfrm>
            <a:off x="5980176"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Drivers</a:t>
            </a:r>
            <a:endParaRPr lang="en-US" sz="950" dirty="0"/>
          </a:p>
        </p:txBody>
      </p:sp>
      <p:sp>
        <p:nvSpPr>
          <p:cNvPr id="27" name="Table chip"/>
          <p:cNvSpPr/>
          <p:nvPr/>
        </p:nvSpPr>
        <p:spPr>
          <a:xfrm>
            <a:off x="6885432" y="3200400"/>
            <a:ext cx="850392" cy="365760"/>
          </a:xfrm>
          <a:prstGeom prst="roundRect">
            <a:avLst>
              <a:gd name="adj" fmla="val 50000"/>
            </a:avLst>
          </a:prstGeom>
          <a:solidFill>
            <a:schemeClr val="bg2"/>
          </a:solidFill>
          <a:ln/>
        </p:spPr>
      </p:sp>
      <p:sp>
        <p:nvSpPr>
          <p:cNvPr id="28" name="Text 26"/>
          <p:cNvSpPr txBox="1"/>
          <p:nvPr/>
        </p:nvSpPr>
        <p:spPr>
          <a:xfrm>
            <a:off x="6885432"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Routes</a:t>
            </a:r>
            <a:endParaRPr lang="en-US" sz="950" dirty="0"/>
          </a:p>
        </p:txBody>
      </p:sp>
      <p:sp>
        <p:nvSpPr>
          <p:cNvPr id="29" name="Table chip"/>
          <p:cNvSpPr/>
          <p:nvPr/>
        </p:nvSpPr>
        <p:spPr>
          <a:xfrm>
            <a:off x="7790688" y="3200400"/>
            <a:ext cx="850392" cy="365760"/>
          </a:xfrm>
          <a:prstGeom prst="roundRect">
            <a:avLst>
              <a:gd name="adj" fmla="val 50000"/>
            </a:avLst>
          </a:prstGeom>
          <a:solidFill>
            <a:schemeClr val="bg2"/>
          </a:solidFill>
          <a:ln/>
        </p:spPr>
      </p:sp>
      <p:sp>
        <p:nvSpPr>
          <p:cNvPr id="30" name="Text 28"/>
          <p:cNvSpPr txBox="1"/>
          <p:nvPr/>
        </p:nvSpPr>
        <p:spPr>
          <a:xfrm>
            <a:off x="7790688" y="3200400"/>
            <a:ext cx="850392" cy="365760"/>
          </a:xfrm>
          <a:prstGeom prst="rect">
            <a:avLst/>
          </a:prstGeom>
          <a:ln/>
        </p:spPr>
        <p:style>
          <a:lnRef idx="0">
            <a:schemeClr val="accent5"/>
          </a:lnRef>
          <a:fillRef idx="3">
            <a:schemeClr val="accent5"/>
          </a:fillRef>
          <a:effectRef idx="3">
            <a:schemeClr val="accent5"/>
          </a:effectRef>
          <a:fontRef idx="minor">
            <a:schemeClr val="lt1"/>
          </a:fontRef>
        </p:style>
        <p:txBody>
          <a:bodyPr wrap="square" lIns="0" tIns="0" rIns="0" bIns="0" rtlCol="0" anchor="ctr"/>
          <a:lstStyle/>
          <a:p>
            <a:pPr marL="0" indent="0" algn="ctr">
              <a:buNone/>
            </a:pPr>
            <a:r>
              <a:rPr lang="en-US" sz="950" b="1" dirty="0">
                <a:solidFill>
                  <a:schemeClr val="tx1"/>
                </a:solidFill>
              </a:rPr>
              <a:t>Deliveries</a:t>
            </a:r>
            <a:endParaRPr lang="en-US" sz="950" dirty="0"/>
          </a:p>
        </p:txBody>
      </p:sp>
      <p:sp>
        <p:nvSpPr>
          <p:cNvPr id="31" name="Objective band"/>
          <p:cNvSpPr/>
          <p:nvPr/>
        </p:nvSpPr>
        <p:spPr>
          <a:xfrm>
            <a:off x="548640" y="3840480"/>
            <a:ext cx="8046720" cy="777240"/>
          </a:xfrm>
          <a:prstGeom prst="roundRect">
            <a:avLst>
              <a:gd name="adj" fmla="val 9412"/>
            </a:avLst>
          </a:prstGeom>
          <a:solidFill>
            <a:schemeClr val="tx1"/>
          </a:solidFill>
          <a:ln/>
        </p:spPr>
      </p:sp>
      <p:sp>
        <p:nvSpPr>
          <p:cNvPr id="32" name="Text 30"/>
          <p:cNvSpPr txBox="1"/>
          <p:nvPr/>
        </p:nvSpPr>
        <p:spPr>
          <a:xfrm>
            <a:off x="777240" y="3840480"/>
            <a:ext cx="7589520" cy="777240"/>
          </a:xfrm>
          <a:prstGeom prst="rect">
            <a:avLst/>
          </a:prstGeom>
          <a:noFill/>
          <a:ln/>
        </p:spPr>
        <p:txBody>
          <a:bodyPr wrap="square" lIns="0" tIns="0" rIns="0" bIns="0" rtlCol="0" anchor="ctr"/>
          <a:lstStyle/>
          <a:p>
            <a:pPr marL="0" indent="0">
              <a:buNone/>
            </a:pPr>
            <a:r>
              <a:rPr lang="en-US" sz="1300" b="1" dirty="0">
                <a:solidFill>
                  <a:schemeClr val="accent1"/>
                </a:solidFill>
              </a:rPr>
              <a:t>Objective: </a:t>
            </a:r>
            <a:r>
              <a:rPr lang="en-US" sz="1300" dirty="0">
                <a:solidFill>
                  <a:schemeClr val="bg1"/>
                </a:solidFill>
              </a:rPr>
              <a:t>use SQL joins, aggregates and window functions to find patterns in warehouse stock, fleet efficiency, driver performance, delivery status and cost.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37F0973-C0EA-6A4A-9390-FB1B682C43AD}"/>
              </a:ext>
            </a:extLst>
          </p:cNvPr>
          <p:cNvPicPr>
            <a:picLocks noChangeAspect="1"/>
          </p:cNvPicPr>
          <p:nvPr/>
        </p:nvPicPr>
        <p:blipFill>
          <a:blip r:embed="rId3"/>
          <a:srcRect l="1493"/>
          <a:stretch>
            <a:fillRect/>
          </a:stretch>
        </p:blipFill>
        <p:spPr>
          <a:xfrm>
            <a:off x="3017520" y="0"/>
            <a:ext cx="6126480" cy="5143500"/>
          </a:xfrm>
          <a:prstGeom prst="rect">
            <a:avLst/>
          </a:prstGeom>
          <a:ln>
            <a:noFill/>
          </a:ln>
          <a:effectLst>
            <a:outerShdw blurRad="292100" dist="139700" dir="2700000" algn="tl" rotWithShape="0">
              <a:srgbClr val="333333">
                <a:alpha val="65000"/>
              </a:srgbClr>
            </a:outerShdw>
          </a:effectLst>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01</a:t>
            </a:r>
            <a:endParaRPr lang="en-US" sz="4400" dirty="0"/>
          </a:p>
        </p:txBody>
      </p:sp>
      <p:sp>
        <p:nvSpPr>
          <p:cNvPr id="4" name="Icon circle"/>
          <p:cNvSpPr/>
          <p:nvPr/>
        </p:nvSpPr>
        <p:spPr>
          <a:xfrm>
            <a:off x="2240280" y="320040"/>
            <a:ext cx="548640" cy="548640"/>
          </a:xfrm>
          <a:prstGeom prst="ellipse">
            <a:avLst/>
          </a:prstGeom>
          <a:solidFill>
            <a:schemeClr val="accent2"/>
          </a:solidFill>
          <a:ln/>
        </p:spPr>
      </p:sp>
      <p:pic>
        <p:nvPicPr>
          <p:cNvPr id="5" name="Image 0" descr="Warehouse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Which warehouse holds the most stock?</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Shows where most products are stored, so we know which warehouse is busiest or overfilled.</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SUM  |  GROUP BY  |  JOIN</a:t>
            </a:r>
            <a:endParaRPr lang="en-US" sz="1100" dirty="0"/>
          </a:p>
        </p:txBody>
      </p:sp>
      <p:sp>
        <p:nvSpPr>
          <p:cNvPr id="11" name="Insight card"/>
          <p:cNvSpPr/>
          <p:nvPr/>
        </p:nvSpPr>
        <p:spPr>
          <a:xfrm>
            <a:off x="3383280" y="365760"/>
            <a:ext cx="5303520" cy="1051560"/>
          </a:xfrm>
          <a:prstGeom prst="roundRect">
            <a:avLst>
              <a:gd name="adj" fmla="val 6957"/>
            </a:avLst>
          </a:prstGeom>
          <a:solidFill>
            <a:schemeClr val="accent2"/>
          </a:solidFill>
          <a:ln/>
        </p:spPr>
        <p:txBody>
          <a:bodyPr/>
          <a:lstStyle/>
          <a:p>
            <a:endParaRPr lang="en-IN"/>
          </a:p>
        </p:txBody>
      </p:sp>
      <p:sp>
        <p:nvSpPr>
          <p:cNvPr id="12" name="Text 9"/>
          <p:cNvSpPr txBox="1"/>
          <p:nvPr/>
        </p:nvSpPr>
        <p:spPr>
          <a:xfrm>
            <a:off x="3611880" y="36576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The warehouse with the highest total stock is the busiest one, and the first place to check for overstock or lack of space.</a:t>
            </a:r>
            <a:endParaRPr lang="en-US" sz="1300" dirty="0"/>
          </a:p>
        </p:txBody>
      </p:sp>
      <p:sp>
        <p:nvSpPr>
          <p:cNvPr id="13" name="SQL panel"/>
          <p:cNvSpPr/>
          <p:nvPr/>
        </p:nvSpPr>
        <p:spPr>
          <a:xfrm>
            <a:off x="3383280" y="1697795"/>
            <a:ext cx="2296973" cy="1017269"/>
          </a:xfrm>
          <a:prstGeom prst="roundRect">
            <a:avLst>
              <a:gd name="adj" fmla="val 3158"/>
            </a:avLst>
          </a:prstGeom>
          <a:solidFill>
            <a:schemeClr val="tx1"/>
          </a:solidFill>
          <a:ln/>
        </p:spPr>
      </p:sp>
      <p:sp>
        <p:nvSpPr>
          <p:cNvPr id="14" name="Text 11"/>
          <p:cNvSpPr txBox="1"/>
          <p:nvPr/>
        </p:nvSpPr>
        <p:spPr>
          <a:xfrm>
            <a:off x="3522409" y="1778508"/>
            <a:ext cx="2018714" cy="758952"/>
          </a:xfrm>
          <a:prstGeom prst="rect">
            <a:avLst/>
          </a:prstGeom>
          <a:noFill/>
          <a:ln/>
        </p:spPr>
        <p:txBody>
          <a:bodyPr wrap="square" lIns="0" tIns="0" rIns="0" bIns="0" rtlCol="0" anchor="t"/>
          <a:lstStyle/>
          <a:p>
            <a:pPr marL="0" indent="0">
              <a:buNone/>
            </a:pPr>
            <a:r>
              <a:rPr lang="en-US" sz="600" dirty="0">
                <a:solidFill>
                  <a:srgbClr val="8AB17D"/>
                </a:solidFill>
                <a:latin typeface="Courier New" pitchFamily="34" charset="0"/>
                <a:ea typeface="Courier New" pitchFamily="34" charset="-122"/>
                <a:cs typeface="Courier New" pitchFamily="34" charset="-120"/>
              </a:rPr>
              <a:t>-- Total stock in each warehouse</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SELECT</a:t>
            </a:r>
            <a:r>
              <a:rPr lang="en-US" sz="600" dirty="0">
                <a:solidFill>
                  <a:srgbClr val="F2F3F5"/>
                </a:solidFill>
                <a:latin typeface="Courier New" pitchFamily="34" charset="0"/>
                <a:ea typeface="Courier New" pitchFamily="34" charset="-122"/>
                <a:cs typeface="Courier New" pitchFamily="34" charset="-120"/>
              </a:rPr>
              <a:t> w.warehouse_name,</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SUM</a:t>
            </a:r>
            <a:r>
              <a:rPr lang="en-US" sz="600" dirty="0">
                <a:solidFill>
                  <a:srgbClr val="F2F3F5"/>
                </a:solidFill>
                <a:latin typeface="Courier New" pitchFamily="34" charset="0"/>
                <a:ea typeface="Courier New" pitchFamily="34" charset="-122"/>
                <a:cs typeface="Courier New" pitchFamily="34" charset="-120"/>
              </a:rPr>
              <a:t>(i.stock_quantity)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total_stock</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FROM</a:t>
            </a:r>
            <a:r>
              <a:rPr lang="en-US" sz="600" dirty="0">
                <a:solidFill>
                  <a:srgbClr val="F2F3F5"/>
                </a:solidFill>
                <a:latin typeface="Courier New" pitchFamily="34" charset="0"/>
                <a:ea typeface="Courier New" pitchFamily="34" charset="-122"/>
                <a:cs typeface="Courier New" pitchFamily="34" charset="-120"/>
              </a:rPr>
              <a:t> Inventory i</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INNER JOIN</a:t>
            </a:r>
            <a:r>
              <a:rPr lang="en-US" sz="600" dirty="0">
                <a:solidFill>
                  <a:srgbClr val="F2F3F5"/>
                </a:solidFill>
                <a:latin typeface="Courier New" pitchFamily="34" charset="0"/>
                <a:ea typeface="Courier New" pitchFamily="34" charset="-122"/>
                <a:cs typeface="Courier New" pitchFamily="34" charset="-120"/>
              </a:rPr>
              <a:t> Warehouses w</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ON</a:t>
            </a:r>
            <a:r>
              <a:rPr lang="en-US" sz="600" dirty="0">
                <a:solidFill>
                  <a:srgbClr val="F2F3F5"/>
                </a:solidFill>
                <a:latin typeface="Courier New" pitchFamily="34" charset="0"/>
                <a:ea typeface="Courier New" pitchFamily="34" charset="-122"/>
                <a:cs typeface="Courier New" pitchFamily="34" charset="-120"/>
              </a:rPr>
              <a:t> i.warehouse_id = w.warehouse_id</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GROUP BY</a:t>
            </a:r>
            <a:r>
              <a:rPr lang="en-US" sz="600" dirty="0">
                <a:solidFill>
                  <a:srgbClr val="F2F3F5"/>
                </a:solidFill>
                <a:latin typeface="Courier New" pitchFamily="34" charset="0"/>
                <a:ea typeface="Courier New" pitchFamily="34" charset="-122"/>
                <a:cs typeface="Courier New" pitchFamily="34" charset="-120"/>
              </a:rPr>
              <a:t> w.warehouse_name</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ORDER BY</a:t>
            </a:r>
            <a:r>
              <a:rPr lang="en-US" sz="600" dirty="0">
                <a:solidFill>
                  <a:srgbClr val="F2F3F5"/>
                </a:solidFill>
                <a:latin typeface="Courier New" pitchFamily="34" charset="0"/>
                <a:ea typeface="Courier New" pitchFamily="34" charset="-122"/>
                <a:cs typeface="Courier New" pitchFamily="34" charset="-120"/>
              </a:rPr>
              <a:t> total_stock </a:t>
            </a:r>
            <a:r>
              <a:rPr lang="en-US" sz="600" b="1" dirty="0">
                <a:solidFill>
                  <a:srgbClr val="FFB703"/>
                </a:solidFill>
                <a:latin typeface="Courier New" pitchFamily="34" charset="0"/>
                <a:ea typeface="Courier New" pitchFamily="34" charset="-122"/>
                <a:cs typeface="Courier New" pitchFamily="34" charset="-120"/>
              </a:rPr>
              <a:t>DESC</a:t>
            </a:r>
            <a:r>
              <a:rPr lang="en-US" sz="600" dirty="0">
                <a:solidFill>
                  <a:srgbClr val="F2F3F5"/>
                </a:solidFill>
                <a:latin typeface="Courier New" pitchFamily="34" charset="0"/>
                <a:ea typeface="Courier New" pitchFamily="34" charset="-122"/>
                <a:cs typeface="Courier New" pitchFamily="34" charset="-120"/>
              </a:rPr>
              <a:t>;</a:t>
            </a:r>
            <a:endParaRPr lang="en-US" sz="600" dirty="0"/>
          </a:p>
        </p:txBody>
      </p:sp>
      <p:sp>
        <p:nvSpPr>
          <p:cNvPr id="15" name="Action card"/>
          <p:cNvSpPr/>
          <p:nvPr/>
        </p:nvSpPr>
        <p:spPr>
          <a:xfrm>
            <a:off x="3414932" y="3986431"/>
            <a:ext cx="5303520" cy="731520"/>
          </a:xfrm>
          <a:prstGeom prst="roundRect">
            <a:avLst>
              <a:gd name="adj" fmla="val 10000"/>
            </a:avLst>
          </a:prstGeom>
          <a:solidFill>
            <a:schemeClr val="bg2"/>
          </a:solidFill>
          <a:ln/>
        </p:spPr>
        <p:txBody>
          <a:bodyPr/>
          <a:lstStyle/>
          <a:p>
            <a:endParaRPr lang="en-IN" dirty="0"/>
          </a:p>
        </p:txBody>
      </p:sp>
      <p:sp>
        <p:nvSpPr>
          <p:cNvPr id="16" name="Text 13"/>
          <p:cNvSpPr txBox="1"/>
          <p:nvPr/>
        </p:nvSpPr>
        <p:spPr>
          <a:xfrm>
            <a:off x="3851453" y="3986431"/>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Move extra stock to warehouses that have free space.</a:t>
            </a:r>
            <a:endParaRPr lang="en-US" sz="1300" dirty="0"/>
          </a:p>
        </p:txBody>
      </p:sp>
      <p:sp>
        <p:nvSpPr>
          <p:cNvPr id="19" name="Speech Bubble: Rectangle 18">
            <a:extLst>
              <a:ext uri="{FF2B5EF4-FFF2-40B4-BE49-F238E27FC236}">
                <a16:creationId xmlns:a16="http://schemas.microsoft.com/office/drawing/2014/main" id="{95D1B173-E75E-14E3-0CE9-C71A67137D9A}"/>
              </a:ext>
            </a:extLst>
          </p:cNvPr>
          <p:cNvSpPr/>
          <p:nvPr/>
        </p:nvSpPr>
        <p:spPr>
          <a:xfrm>
            <a:off x="5954573" y="2240280"/>
            <a:ext cx="2732227" cy="1491175"/>
          </a:xfrm>
          <a:prstGeom prst="wedgeRectCallout">
            <a:avLst>
              <a:gd name="adj1" fmla="val -58913"/>
              <a:gd name="adj2" fmla="val -20121"/>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dirty="0"/>
          </a:p>
        </p:txBody>
      </p:sp>
      <p:pic>
        <p:nvPicPr>
          <p:cNvPr id="21" name="Picture 20">
            <a:extLst>
              <a:ext uri="{FF2B5EF4-FFF2-40B4-BE49-F238E27FC236}">
                <a16:creationId xmlns:a16="http://schemas.microsoft.com/office/drawing/2014/main" id="{9F1D11B4-3812-E90D-1E2D-85EACC0EF799}"/>
              </a:ext>
            </a:extLst>
          </p:cNvPr>
          <p:cNvPicPr>
            <a:picLocks noChangeAspect="1"/>
          </p:cNvPicPr>
          <p:nvPr/>
        </p:nvPicPr>
        <p:blipFill>
          <a:blip r:embed="rId5"/>
          <a:srcRect l="11047" t="44866" r="63009" b="39034"/>
          <a:stretch>
            <a:fillRect/>
          </a:stretch>
        </p:blipFill>
        <p:spPr>
          <a:xfrm>
            <a:off x="6066692" y="2377440"/>
            <a:ext cx="2499504" cy="1224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7898A8E-9C92-0088-B985-F536D2003AA4}"/>
              </a:ext>
            </a:extLst>
          </p:cNvPr>
          <p:cNvPicPr>
            <a:picLocks noChangeAspect="1"/>
          </p:cNvPicPr>
          <p:nvPr/>
        </p:nvPicPr>
        <p:blipFill>
          <a:blip r:embed="rId3"/>
          <a:stretch>
            <a:fillRect/>
          </a:stretch>
        </p:blipFill>
        <p:spPr>
          <a:xfrm>
            <a:off x="3017520" y="0"/>
            <a:ext cx="6126480" cy="5143500"/>
          </a:xfrm>
          <a:prstGeom prst="rect">
            <a:avLst/>
          </a:prstGeom>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02</a:t>
            </a:r>
            <a:endParaRPr lang="en-US" sz="4400" dirty="0"/>
          </a:p>
        </p:txBody>
      </p:sp>
      <p:sp>
        <p:nvSpPr>
          <p:cNvPr id="4" name="Icon circle"/>
          <p:cNvSpPr/>
          <p:nvPr/>
        </p:nvSpPr>
        <p:spPr>
          <a:xfrm>
            <a:off x="2240280" y="320040"/>
            <a:ext cx="548640" cy="548640"/>
          </a:xfrm>
          <a:prstGeom prst="ellipse">
            <a:avLst/>
          </a:prstGeom>
          <a:solidFill>
            <a:schemeClr val="accent3"/>
          </a:solidFill>
          <a:ln/>
        </p:spPr>
      </p:sp>
      <p:pic>
        <p:nvPicPr>
          <p:cNvPr id="5" name="Image 0" descr="BoxOpen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Which products are furthest below reorder level?</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Products with the biggest shortfall will run out first and can delay customer orders.</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JOIN  |  WHERE  |  calculated column</a:t>
            </a:r>
            <a:endParaRPr lang="en-US" sz="1100" dirty="0"/>
          </a:p>
        </p:txBody>
      </p:sp>
      <p:sp>
        <p:nvSpPr>
          <p:cNvPr id="11" name="Insight card"/>
          <p:cNvSpPr/>
          <p:nvPr/>
        </p:nvSpPr>
        <p:spPr>
          <a:xfrm>
            <a:off x="3383280" y="365760"/>
            <a:ext cx="5303520" cy="1051560"/>
          </a:xfrm>
          <a:prstGeom prst="roundRect">
            <a:avLst>
              <a:gd name="adj" fmla="val 6957"/>
            </a:avLst>
          </a:prstGeom>
          <a:solidFill>
            <a:schemeClr val="accent2"/>
          </a:solidFill>
          <a:ln/>
        </p:spPr>
      </p:sp>
      <p:sp>
        <p:nvSpPr>
          <p:cNvPr id="12" name="Text 9"/>
          <p:cNvSpPr txBox="1"/>
          <p:nvPr/>
        </p:nvSpPr>
        <p:spPr>
          <a:xfrm>
            <a:off x="3611880" y="36576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Products below their reorder level are at risk of running out. The bigger the shortfall, the sooner the product must be reordered.</a:t>
            </a:r>
            <a:endParaRPr lang="en-US" sz="1300" dirty="0"/>
          </a:p>
        </p:txBody>
      </p:sp>
      <p:sp>
        <p:nvSpPr>
          <p:cNvPr id="13" name="SQL panel"/>
          <p:cNvSpPr/>
          <p:nvPr/>
        </p:nvSpPr>
        <p:spPr>
          <a:xfrm>
            <a:off x="3383280" y="1554480"/>
            <a:ext cx="2201594" cy="1308295"/>
          </a:xfrm>
          <a:prstGeom prst="roundRect">
            <a:avLst>
              <a:gd name="adj" fmla="val 2570"/>
            </a:avLst>
          </a:prstGeom>
          <a:solidFill>
            <a:schemeClr val="tx1"/>
          </a:solidFill>
          <a:ln/>
        </p:spPr>
      </p:sp>
      <p:sp>
        <p:nvSpPr>
          <p:cNvPr id="14" name="Text 11"/>
          <p:cNvSpPr txBox="1"/>
          <p:nvPr/>
        </p:nvSpPr>
        <p:spPr>
          <a:xfrm>
            <a:off x="3474720" y="1668779"/>
            <a:ext cx="1941342" cy="1079695"/>
          </a:xfrm>
          <a:prstGeom prst="rect">
            <a:avLst/>
          </a:prstGeom>
          <a:noFill/>
          <a:ln/>
        </p:spPr>
        <p:txBody>
          <a:bodyPr wrap="square" lIns="0" tIns="0" rIns="0" bIns="0" rtlCol="0" anchor="t"/>
          <a:lstStyle/>
          <a:p>
            <a:pPr marL="0" indent="0">
              <a:buNone/>
            </a:pPr>
            <a:r>
              <a:rPr lang="en-US" sz="600" dirty="0">
                <a:solidFill>
                  <a:srgbClr val="8AB17D"/>
                </a:solidFill>
                <a:latin typeface="Courier New" pitchFamily="34" charset="0"/>
                <a:ea typeface="Courier New" pitchFamily="34" charset="-122"/>
                <a:cs typeface="Courier New" pitchFamily="34" charset="-120"/>
              </a:rPr>
              <a:t>-- Shortfall of low-stock products</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SELECT</a:t>
            </a:r>
            <a:r>
              <a:rPr lang="en-US" sz="600" dirty="0">
                <a:solidFill>
                  <a:srgbClr val="F2F3F5"/>
                </a:solidFill>
                <a:latin typeface="Courier New" pitchFamily="34" charset="0"/>
                <a:ea typeface="Courier New" pitchFamily="34" charset="-122"/>
                <a:cs typeface="Courier New" pitchFamily="34" charset="-120"/>
              </a:rPr>
              <a:t> p.product_name,</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i.stock_quantity,</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i.reorder_level,</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i.reorder_level - i.stock_quantity</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shortfall</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FROM</a:t>
            </a:r>
            <a:r>
              <a:rPr lang="en-US" sz="600" dirty="0">
                <a:solidFill>
                  <a:srgbClr val="F2F3F5"/>
                </a:solidFill>
                <a:latin typeface="Courier New" pitchFamily="34" charset="0"/>
                <a:ea typeface="Courier New" pitchFamily="34" charset="-122"/>
                <a:cs typeface="Courier New" pitchFamily="34" charset="-120"/>
              </a:rPr>
              <a:t> Inventory </a:t>
            </a:r>
          </a:p>
          <a:p>
            <a:pPr marL="0" indent="0">
              <a:buNone/>
            </a:pPr>
            <a:r>
              <a:rPr lang="en-US" sz="600" b="1" dirty="0">
                <a:solidFill>
                  <a:srgbClr val="FFB703"/>
                </a:solidFill>
                <a:latin typeface="Courier New" pitchFamily="34" charset="0"/>
                <a:ea typeface="Courier New" pitchFamily="34" charset="-122"/>
                <a:cs typeface="Courier New" pitchFamily="34" charset="-120"/>
              </a:rPr>
              <a:t>INNER JOIN</a:t>
            </a:r>
            <a:r>
              <a:rPr lang="en-US" sz="600" dirty="0">
                <a:solidFill>
                  <a:srgbClr val="F2F3F5"/>
                </a:solidFill>
                <a:latin typeface="Courier New" pitchFamily="34" charset="0"/>
                <a:ea typeface="Courier New" pitchFamily="34" charset="-122"/>
                <a:cs typeface="Courier New" pitchFamily="34" charset="-120"/>
              </a:rPr>
              <a:t> Products p</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ON</a:t>
            </a:r>
            <a:r>
              <a:rPr lang="en-US" sz="600" dirty="0">
                <a:solidFill>
                  <a:srgbClr val="F2F3F5"/>
                </a:solidFill>
                <a:latin typeface="Courier New" pitchFamily="34" charset="0"/>
                <a:ea typeface="Courier New" pitchFamily="34" charset="-122"/>
                <a:cs typeface="Courier New" pitchFamily="34" charset="-120"/>
              </a:rPr>
              <a:t> i.product_id = p.product_id</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WHERE</a:t>
            </a:r>
            <a:r>
              <a:rPr lang="en-US" sz="600" dirty="0">
                <a:solidFill>
                  <a:srgbClr val="F2F3F5"/>
                </a:solidFill>
                <a:latin typeface="Courier New" pitchFamily="34" charset="0"/>
                <a:ea typeface="Courier New" pitchFamily="34" charset="-122"/>
                <a:cs typeface="Courier New" pitchFamily="34" charset="-120"/>
              </a:rPr>
              <a:t> i.stock_quantity &lt; i.reorder_level</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ORDER BY</a:t>
            </a:r>
            <a:r>
              <a:rPr lang="en-US" sz="600" dirty="0">
                <a:solidFill>
                  <a:srgbClr val="F2F3F5"/>
                </a:solidFill>
                <a:latin typeface="Courier New" pitchFamily="34" charset="0"/>
                <a:ea typeface="Courier New" pitchFamily="34" charset="-122"/>
                <a:cs typeface="Courier New" pitchFamily="34" charset="-120"/>
              </a:rPr>
              <a:t> shortfall </a:t>
            </a:r>
            <a:r>
              <a:rPr lang="en-US" sz="600" b="1" dirty="0">
                <a:solidFill>
                  <a:srgbClr val="FFB703"/>
                </a:solidFill>
                <a:latin typeface="Courier New" pitchFamily="34" charset="0"/>
                <a:ea typeface="Courier New" pitchFamily="34" charset="-122"/>
                <a:cs typeface="Courier New" pitchFamily="34" charset="-120"/>
              </a:rPr>
              <a:t>DESC</a:t>
            </a:r>
            <a:r>
              <a:rPr lang="en-US" sz="500" dirty="0">
                <a:solidFill>
                  <a:srgbClr val="F2F3F5"/>
                </a:solidFill>
                <a:latin typeface="Courier New" pitchFamily="34" charset="0"/>
                <a:ea typeface="Courier New" pitchFamily="34" charset="-122"/>
                <a:cs typeface="Courier New" pitchFamily="34" charset="-120"/>
              </a:rPr>
              <a:t>;</a:t>
            </a:r>
            <a:endParaRPr lang="en-US" sz="500" dirty="0"/>
          </a:p>
        </p:txBody>
      </p:sp>
      <p:sp>
        <p:nvSpPr>
          <p:cNvPr id="15" name="Action card"/>
          <p:cNvSpPr/>
          <p:nvPr/>
        </p:nvSpPr>
        <p:spPr>
          <a:xfrm>
            <a:off x="3383280" y="4023360"/>
            <a:ext cx="5303520" cy="731520"/>
          </a:xfrm>
          <a:prstGeom prst="roundRect">
            <a:avLst>
              <a:gd name="adj" fmla="val 10000"/>
            </a:avLst>
          </a:prstGeom>
          <a:solidFill>
            <a:schemeClr val="bg2"/>
          </a:solidFill>
          <a:ln/>
        </p:spPr>
      </p:sp>
      <p:sp>
        <p:nvSpPr>
          <p:cNvPr id="16" name="Text 13"/>
          <p:cNvSpPr txBox="1"/>
          <p:nvPr/>
        </p:nvSpPr>
        <p:spPr>
          <a:xfrm>
            <a:off x="3611880" y="4023360"/>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Reorder the products with the largest shortfall first.</a:t>
            </a:r>
            <a:endParaRPr lang="en-US" sz="1300" dirty="0"/>
          </a:p>
        </p:txBody>
      </p:sp>
      <p:sp>
        <p:nvSpPr>
          <p:cNvPr id="19" name="Speech Bubble: Rectangle 18">
            <a:extLst>
              <a:ext uri="{FF2B5EF4-FFF2-40B4-BE49-F238E27FC236}">
                <a16:creationId xmlns:a16="http://schemas.microsoft.com/office/drawing/2014/main" id="{7F01E8E7-24F8-4D46-C878-B4385510BF95}"/>
              </a:ext>
            </a:extLst>
          </p:cNvPr>
          <p:cNvSpPr/>
          <p:nvPr/>
        </p:nvSpPr>
        <p:spPr>
          <a:xfrm>
            <a:off x="5957668" y="2240280"/>
            <a:ext cx="2644726" cy="1394460"/>
          </a:xfrm>
          <a:prstGeom prst="wedgeRectCallout">
            <a:avLst>
              <a:gd name="adj1" fmla="val -63918"/>
              <a:gd name="adj2" fmla="val -29352"/>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92AC47B6-0ACA-6A6F-9D16-25EAC2685ABF}"/>
              </a:ext>
            </a:extLst>
          </p:cNvPr>
          <p:cNvPicPr>
            <a:picLocks noChangeAspect="1"/>
          </p:cNvPicPr>
          <p:nvPr/>
        </p:nvPicPr>
        <p:blipFill>
          <a:blip r:embed="rId5"/>
          <a:srcRect l="10231" t="44987" r="63000" b="37348"/>
          <a:stretch>
            <a:fillRect/>
          </a:stretch>
        </p:blipFill>
        <p:spPr>
          <a:xfrm>
            <a:off x="6063176" y="2416126"/>
            <a:ext cx="2447778" cy="102694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84315C4-50FF-B1F1-E914-C18568A1AF79}"/>
              </a:ext>
            </a:extLst>
          </p:cNvPr>
          <p:cNvPicPr>
            <a:picLocks noChangeAspect="1"/>
          </p:cNvPicPr>
          <p:nvPr/>
        </p:nvPicPr>
        <p:blipFill>
          <a:blip r:embed="rId3"/>
          <a:stretch>
            <a:fillRect/>
          </a:stretch>
        </p:blipFill>
        <p:spPr>
          <a:xfrm>
            <a:off x="3017520" y="0"/>
            <a:ext cx="6126480" cy="5143500"/>
          </a:xfrm>
          <a:prstGeom prst="rect">
            <a:avLst/>
          </a:prstGeom>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03</a:t>
            </a:r>
            <a:endParaRPr lang="en-US" sz="4400" dirty="0"/>
          </a:p>
        </p:txBody>
      </p:sp>
      <p:sp>
        <p:nvSpPr>
          <p:cNvPr id="4" name="Icon circle"/>
          <p:cNvSpPr/>
          <p:nvPr/>
        </p:nvSpPr>
        <p:spPr>
          <a:xfrm>
            <a:off x="2240280" y="320040"/>
            <a:ext cx="548640" cy="548640"/>
          </a:xfrm>
          <a:prstGeom prst="ellipse">
            <a:avLst/>
          </a:prstGeom>
          <a:solidFill>
            <a:schemeClr val="accent4"/>
          </a:solidFill>
          <a:ln/>
        </p:spPr>
      </p:sp>
      <p:pic>
        <p:nvPicPr>
          <p:cNvPr id="5" name="Image 0" descr="GasPump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Which vehicle type uses fuel best?</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Fuel is a big part of delivery cost. Better fuel efficiency saves money on every trip.</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AVG  |  GROUP BY</a:t>
            </a:r>
            <a:endParaRPr lang="en-US" sz="1100" dirty="0"/>
          </a:p>
        </p:txBody>
      </p:sp>
      <p:sp>
        <p:nvSpPr>
          <p:cNvPr id="11" name="Insight card"/>
          <p:cNvSpPr/>
          <p:nvPr/>
        </p:nvSpPr>
        <p:spPr>
          <a:xfrm>
            <a:off x="3383280" y="365760"/>
            <a:ext cx="5303520" cy="1051560"/>
          </a:xfrm>
          <a:prstGeom prst="roundRect">
            <a:avLst>
              <a:gd name="adj" fmla="val 6957"/>
            </a:avLst>
          </a:prstGeom>
          <a:solidFill>
            <a:schemeClr val="accent2"/>
          </a:solidFill>
          <a:ln/>
        </p:spPr>
      </p:sp>
      <p:sp>
        <p:nvSpPr>
          <p:cNvPr id="12" name="Text 9"/>
          <p:cNvSpPr txBox="1"/>
          <p:nvPr/>
        </p:nvSpPr>
        <p:spPr>
          <a:xfrm>
            <a:off x="3611880" y="36576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Vehicle types differ in fuel efficiency. The type with the best average mileage saves the most fuel on every trip.</a:t>
            </a:r>
            <a:endParaRPr lang="en-US" sz="1300" dirty="0"/>
          </a:p>
        </p:txBody>
      </p:sp>
      <p:sp>
        <p:nvSpPr>
          <p:cNvPr id="13" name="SQL panel"/>
          <p:cNvSpPr/>
          <p:nvPr/>
        </p:nvSpPr>
        <p:spPr>
          <a:xfrm>
            <a:off x="6349805" y="1659547"/>
            <a:ext cx="2336995" cy="1618225"/>
          </a:xfrm>
          <a:prstGeom prst="roundRect">
            <a:avLst>
              <a:gd name="adj" fmla="val 3158"/>
            </a:avLst>
          </a:prstGeom>
          <a:solidFill>
            <a:schemeClr val="tx1"/>
          </a:solidFill>
          <a:ln/>
        </p:spPr>
      </p:sp>
      <p:sp>
        <p:nvSpPr>
          <p:cNvPr id="14" name="Text 11"/>
          <p:cNvSpPr txBox="1"/>
          <p:nvPr/>
        </p:nvSpPr>
        <p:spPr>
          <a:xfrm>
            <a:off x="6464100" y="1758461"/>
            <a:ext cx="2138293" cy="830580"/>
          </a:xfrm>
          <a:prstGeom prst="rect">
            <a:avLst/>
          </a:prstGeom>
          <a:noFill/>
          <a:ln/>
        </p:spPr>
        <p:txBody>
          <a:bodyPr wrap="square" lIns="0" tIns="0" rIns="0" bIns="0" rtlCol="0" anchor="t"/>
          <a:lstStyle/>
          <a:p>
            <a:pPr marL="0" indent="0">
              <a:buNone/>
            </a:pPr>
            <a:r>
              <a:rPr lang="en-US" sz="800" dirty="0">
                <a:solidFill>
                  <a:srgbClr val="8AB17D"/>
                </a:solidFill>
                <a:latin typeface="Courier New" pitchFamily="34" charset="0"/>
                <a:ea typeface="Courier New" pitchFamily="34" charset="-122"/>
                <a:cs typeface="Courier New" pitchFamily="34" charset="-120"/>
              </a:rPr>
              <a:t>-- Average fuel efficiency by type</a:t>
            </a:r>
            <a:endParaRPr lang="en-US" sz="800" dirty="0"/>
          </a:p>
          <a:p>
            <a:pPr marL="0" indent="0">
              <a:buNone/>
            </a:pPr>
            <a:r>
              <a:rPr lang="en-US" sz="800" b="1" dirty="0">
                <a:solidFill>
                  <a:srgbClr val="FFB703"/>
                </a:solidFill>
                <a:latin typeface="Courier New" pitchFamily="34" charset="0"/>
                <a:ea typeface="Courier New" pitchFamily="34" charset="-122"/>
                <a:cs typeface="Courier New" pitchFamily="34" charset="-120"/>
              </a:rPr>
              <a:t>SELECT</a:t>
            </a:r>
            <a:r>
              <a:rPr lang="en-US" sz="800" dirty="0">
                <a:solidFill>
                  <a:srgbClr val="F2F3F5"/>
                </a:solidFill>
                <a:latin typeface="Courier New" pitchFamily="34" charset="0"/>
                <a:ea typeface="Courier New" pitchFamily="34" charset="-122"/>
                <a:cs typeface="Courier New" pitchFamily="34" charset="-120"/>
              </a:rPr>
              <a:t> vehicle_type,</a:t>
            </a:r>
            <a:endParaRPr lang="en-US" sz="800" dirty="0"/>
          </a:p>
          <a:p>
            <a:pPr marL="0" indent="0">
              <a:buNone/>
            </a:pPr>
            <a:r>
              <a:rPr lang="en-US" sz="800" dirty="0">
                <a:solidFill>
                  <a:srgbClr val="F2F3F5"/>
                </a:solidFill>
                <a:latin typeface="Courier New" pitchFamily="34" charset="0"/>
                <a:ea typeface="Courier New" pitchFamily="34" charset="-122"/>
                <a:cs typeface="Courier New" pitchFamily="34" charset="-120"/>
              </a:rPr>
              <a:t>       </a:t>
            </a:r>
            <a:r>
              <a:rPr lang="en-US" sz="800" b="1" dirty="0">
                <a:solidFill>
                  <a:srgbClr val="FFB703"/>
                </a:solidFill>
                <a:latin typeface="Courier New" pitchFamily="34" charset="0"/>
                <a:ea typeface="Courier New" pitchFamily="34" charset="-122"/>
                <a:cs typeface="Courier New" pitchFamily="34" charset="-120"/>
              </a:rPr>
              <a:t>COUNT</a:t>
            </a:r>
            <a:r>
              <a:rPr lang="en-US" sz="800" dirty="0">
                <a:solidFill>
                  <a:srgbClr val="F2F3F5"/>
                </a:solidFill>
                <a:latin typeface="Courier New" pitchFamily="34" charset="0"/>
                <a:ea typeface="Courier New" pitchFamily="34" charset="-122"/>
                <a:cs typeface="Courier New" pitchFamily="34" charset="-120"/>
              </a:rPr>
              <a:t>(*) </a:t>
            </a:r>
            <a:r>
              <a:rPr lang="en-US" sz="800" b="1" dirty="0">
                <a:solidFill>
                  <a:srgbClr val="FFB703"/>
                </a:solidFill>
                <a:latin typeface="Courier New" pitchFamily="34" charset="0"/>
                <a:ea typeface="Courier New" pitchFamily="34" charset="-122"/>
                <a:cs typeface="Courier New" pitchFamily="34" charset="-120"/>
              </a:rPr>
              <a:t>AS</a:t>
            </a:r>
            <a:r>
              <a:rPr lang="en-US" sz="800" dirty="0">
                <a:solidFill>
                  <a:srgbClr val="F2F3F5"/>
                </a:solidFill>
                <a:latin typeface="Courier New" pitchFamily="34" charset="0"/>
                <a:ea typeface="Courier New" pitchFamily="34" charset="-122"/>
                <a:cs typeface="Courier New" pitchFamily="34" charset="-120"/>
              </a:rPr>
              <a:t> vehicles,</a:t>
            </a:r>
            <a:endParaRPr lang="en-US" sz="800" dirty="0"/>
          </a:p>
          <a:p>
            <a:pPr marL="0" indent="0">
              <a:buNone/>
            </a:pPr>
            <a:r>
              <a:rPr lang="en-US" sz="800" dirty="0">
                <a:solidFill>
                  <a:srgbClr val="F2F3F5"/>
                </a:solidFill>
                <a:latin typeface="Courier New" pitchFamily="34" charset="0"/>
                <a:ea typeface="Courier New" pitchFamily="34" charset="-122"/>
                <a:cs typeface="Courier New" pitchFamily="34" charset="-120"/>
              </a:rPr>
              <a:t>       </a:t>
            </a:r>
            <a:r>
              <a:rPr lang="en-US" sz="800" b="1" dirty="0">
                <a:solidFill>
                  <a:srgbClr val="FFB703"/>
                </a:solidFill>
                <a:latin typeface="Courier New" pitchFamily="34" charset="0"/>
                <a:ea typeface="Courier New" pitchFamily="34" charset="-122"/>
                <a:cs typeface="Courier New" pitchFamily="34" charset="-120"/>
              </a:rPr>
              <a:t>ROUND</a:t>
            </a:r>
            <a:r>
              <a:rPr lang="en-US" sz="800" dirty="0">
                <a:solidFill>
                  <a:srgbClr val="F2F3F5"/>
                </a:solidFill>
                <a:latin typeface="Courier New" pitchFamily="34" charset="0"/>
                <a:ea typeface="Courier New" pitchFamily="34" charset="-122"/>
                <a:cs typeface="Courier New" pitchFamily="34" charset="-120"/>
              </a:rPr>
              <a:t>(</a:t>
            </a:r>
            <a:r>
              <a:rPr lang="en-US" sz="800" b="1" dirty="0">
                <a:solidFill>
                  <a:srgbClr val="FFB703"/>
                </a:solidFill>
                <a:latin typeface="Courier New" pitchFamily="34" charset="0"/>
                <a:ea typeface="Courier New" pitchFamily="34" charset="-122"/>
                <a:cs typeface="Courier New" pitchFamily="34" charset="-120"/>
              </a:rPr>
              <a:t>AVG</a:t>
            </a:r>
            <a:r>
              <a:rPr lang="en-US" sz="800" dirty="0">
                <a:solidFill>
                  <a:srgbClr val="F2F3F5"/>
                </a:solidFill>
                <a:latin typeface="Courier New" pitchFamily="34" charset="0"/>
                <a:ea typeface="Courier New" pitchFamily="34" charset="-122"/>
                <a:cs typeface="Courier New" pitchFamily="34" charset="-120"/>
              </a:rPr>
              <a:t>(fuel_efficiency_kmpl), 2)</a:t>
            </a:r>
            <a:endParaRPr lang="en-US" sz="800" dirty="0"/>
          </a:p>
          <a:p>
            <a:pPr marL="0" indent="0">
              <a:buNone/>
            </a:pPr>
            <a:r>
              <a:rPr lang="en-US" sz="800" dirty="0">
                <a:solidFill>
                  <a:srgbClr val="F2F3F5"/>
                </a:solidFill>
                <a:latin typeface="Courier New" pitchFamily="34" charset="0"/>
                <a:ea typeface="Courier New" pitchFamily="34" charset="-122"/>
                <a:cs typeface="Courier New" pitchFamily="34" charset="-120"/>
              </a:rPr>
              <a:t>         </a:t>
            </a:r>
            <a:r>
              <a:rPr lang="en-US" sz="800" b="1" dirty="0">
                <a:solidFill>
                  <a:srgbClr val="FFB703"/>
                </a:solidFill>
                <a:latin typeface="Courier New" pitchFamily="34" charset="0"/>
                <a:ea typeface="Courier New" pitchFamily="34" charset="-122"/>
                <a:cs typeface="Courier New" pitchFamily="34" charset="-120"/>
              </a:rPr>
              <a:t>AS</a:t>
            </a:r>
            <a:r>
              <a:rPr lang="en-US" sz="800" dirty="0">
                <a:solidFill>
                  <a:srgbClr val="F2F3F5"/>
                </a:solidFill>
                <a:latin typeface="Courier New" pitchFamily="34" charset="0"/>
                <a:ea typeface="Courier New" pitchFamily="34" charset="-122"/>
                <a:cs typeface="Courier New" pitchFamily="34" charset="-120"/>
              </a:rPr>
              <a:t> avg_kmpl</a:t>
            </a:r>
            <a:endParaRPr lang="en-US" sz="800" dirty="0"/>
          </a:p>
          <a:p>
            <a:pPr marL="0" indent="0">
              <a:buNone/>
            </a:pPr>
            <a:r>
              <a:rPr lang="en-US" sz="800" b="1" dirty="0">
                <a:solidFill>
                  <a:srgbClr val="FFB703"/>
                </a:solidFill>
                <a:latin typeface="Courier New" pitchFamily="34" charset="0"/>
                <a:ea typeface="Courier New" pitchFamily="34" charset="-122"/>
                <a:cs typeface="Courier New" pitchFamily="34" charset="-120"/>
              </a:rPr>
              <a:t>FROM</a:t>
            </a:r>
            <a:r>
              <a:rPr lang="en-US" sz="800" dirty="0">
                <a:solidFill>
                  <a:srgbClr val="F2F3F5"/>
                </a:solidFill>
                <a:latin typeface="Courier New" pitchFamily="34" charset="0"/>
                <a:ea typeface="Courier New" pitchFamily="34" charset="-122"/>
                <a:cs typeface="Courier New" pitchFamily="34" charset="-120"/>
              </a:rPr>
              <a:t> Vehicles</a:t>
            </a:r>
            <a:endParaRPr lang="en-US" sz="800" dirty="0"/>
          </a:p>
          <a:p>
            <a:pPr marL="0" indent="0">
              <a:buNone/>
            </a:pPr>
            <a:r>
              <a:rPr lang="en-US" sz="800" b="1" dirty="0">
                <a:solidFill>
                  <a:srgbClr val="FFB703"/>
                </a:solidFill>
                <a:latin typeface="Courier New" pitchFamily="34" charset="0"/>
                <a:ea typeface="Courier New" pitchFamily="34" charset="-122"/>
                <a:cs typeface="Courier New" pitchFamily="34" charset="-120"/>
              </a:rPr>
              <a:t>GROUP BY</a:t>
            </a:r>
            <a:r>
              <a:rPr lang="en-US" sz="800" dirty="0">
                <a:solidFill>
                  <a:srgbClr val="F2F3F5"/>
                </a:solidFill>
                <a:latin typeface="Courier New" pitchFamily="34" charset="0"/>
                <a:ea typeface="Courier New" pitchFamily="34" charset="-122"/>
                <a:cs typeface="Courier New" pitchFamily="34" charset="-120"/>
              </a:rPr>
              <a:t> vehicle_type</a:t>
            </a:r>
            <a:endParaRPr lang="en-US" sz="800" dirty="0"/>
          </a:p>
          <a:p>
            <a:pPr marL="0" indent="0">
              <a:buNone/>
            </a:pPr>
            <a:r>
              <a:rPr lang="en-US" sz="800" b="1" dirty="0">
                <a:solidFill>
                  <a:srgbClr val="FFB703"/>
                </a:solidFill>
                <a:latin typeface="Courier New" pitchFamily="34" charset="0"/>
                <a:ea typeface="Courier New" pitchFamily="34" charset="-122"/>
                <a:cs typeface="Courier New" pitchFamily="34" charset="-120"/>
              </a:rPr>
              <a:t>ORDER BY</a:t>
            </a:r>
            <a:r>
              <a:rPr lang="en-US" sz="800" dirty="0">
                <a:solidFill>
                  <a:srgbClr val="F2F3F5"/>
                </a:solidFill>
                <a:latin typeface="Courier New" pitchFamily="34" charset="0"/>
                <a:ea typeface="Courier New" pitchFamily="34" charset="-122"/>
                <a:cs typeface="Courier New" pitchFamily="34" charset="-120"/>
              </a:rPr>
              <a:t> avg_kmpl </a:t>
            </a:r>
            <a:r>
              <a:rPr lang="en-US" sz="800" b="1" dirty="0">
                <a:solidFill>
                  <a:srgbClr val="FFB703"/>
                </a:solidFill>
                <a:latin typeface="Courier New" pitchFamily="34" charset="0"/>
                <a:ea typeface="Courier New" pitchFamily="34" charset="-122"/>
                <a:cs typeface="Courier New" pitchFamily="34" charset="-120"/>
              </a:rPr>
              <a:t>DESC</a:t>
            </a:r>
            <a:r>
              <a:rPr lang="en-US" sz="800" dirty="0">
                <a:solidFill>
                  <a:srgbClr val="F2F3F5"/>
                </a:solidFill>
                <a:latin typeface="Courier New" pitchFamily="34" charset="0"/>
                <a:ea typeface="Courier New" pitchFamily="34" charset="-122"/>
                <a:cs typeface="Courier New" pitchFamily="34" charset="-120"/>
              </a:rPr>
              <a:t>;</a:t>
            </a:r>
            <a:endParaRPr lang="en-US" sz="800" dirty="0"/>
          </a:p>
        </p:txBody>
      </p:sp>
      <p:sp>
        <p:nvSpPr>
          <p:cNvPr id="15" name="Action card"/>
          <p:cNvSpPr/>
          <p:nvPr/>
        </p:nvSpPr>
        <p:spPr>
          <a:xfrm>
            <a:off x="3383280" y="4069080"/>
            <a:ext cx="5303520" cy="731520"/>
          </a:xfrm>
          <a:prstGeom prst="roundRect">
            <a:avLst>
              <a:gd name="adj" fmla="val 10000"/>
            </a:avLst>
          </a:prstGeom>
          <a:solidFill>
            <a:schemeClr val="bg2"/>
          </a:solidFill>
          <a:ln/>
        </p:spPr>
      </p:sp>
      <p:sp>
        <p:nvSpPr>
          <p:cNvPr id="16" name="Text 13"/>
          <p:cNvSpPr txBox="1"/>
          <p:nvPr/>
        </p:nvSpPr>
        <p:spPr>
          <a:xfrm>
            <a:off x="3817620" y="4046220"/>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Use the most efficient vehicle type for long routes.</a:t>
            </a:r>
            <a:endParaRPr lang="en-US" sz="1300" dirty="0"/>
          </a:p>
        </p:txBody>
      </p:sp>
      <p:sp>
        <p:nvSpPr>
          <p:cNvPr id="19" name="Speech Bubble: Rectangle 18">
            <a:extLst>
              <a:ext uri="{FF2B5EF4-FFF2-40B4-BE49-F238E27FC236}">
                <a16:creationId xmlns:a16="http://schemas.microsoft.com/office/drawing/2014/main" id="{AC4AD5F4-1584-B0B1-86E9-418137CD2DEF}"/>
              </a:ext>
            </a:extLst>
          </p:cNvPr>
          <p:cNvSpPr/>
          <p:nvPr/>
        </p:nvSpPr>
        <p:spPr>
          <a:xfrm>
            <a:off x="3369209" y="2942347"/>
            <a:ext cx="2743202" cy="861646"/>
          </a:xfrm>
          <a:prstGeom prst="wedgeRectCallout">
            <a:avLst>
              <a:gd name="adj1" fmla="val 58868"/>
              <a:gd name="adj2" fmla="val -21272"/>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D207917C-9138-4F1B-449B-1D3A4E2A0AD1}"/>
              </a:ext>
            </a:extLst>
          </p:cNvPr>
          <p:cNvPicPr>
            <a:picLocks noChangeAspect="1"/>
          </p:cNvPicPr>
          <p:nvPr/>
        </p:nvPicPr>
        <p:blipFill>
          <a:blip r:embed="rId5"/>
          <a:srcRect l="10769" t="45765" r="63519" b="39665"/>
          <a:stretch>
            <a:fillRect/>
          </a:stretch>
        </p:blipFill>
        <p:spPr>
          <a:xfrm>
            <a:off x="3446581" y="3021037"/>
            <a:ext cx="2588459" cy="7077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9B4CA7D-2A73-3E21-3A6D-13C530C6A31A}"/>
              </a:ext>
            </a:extLst>
          </p:cNvPr>
          <p:cNvPicPr>
            <a:picLocks noChangeAspect="1"/>
          </p:cNvPicPr>
          <p:nvPr/>
        </p:nvPicPr>
        <p:blipFill>
          <a:blip r:embed="rId3"/>
          <a:srcRect r="10810" b="16424"/>
          <a:stretch>
            <a:fillRect/>
          </a:stretch>
        </p:blipFill>
        <p:spPr>
          <a:xfrm>
            <a:off x="3017520" y="0"/>
            <a:ext cx="6126480" cy="5143500"/>
          </a:xfrm>
          <a:prstGeom prst="rect">
            <a:avLst/>
          </a:prstGeom>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04</a:t>
            </a:r>
            <a:endParaRPr lang="en-US" sz="4400" dirty="0"/>
          </a:p>
        </p:txBody>
      </p:sp>
      <p:sp>
        <p:nvSpPr>
          <p:cNvPr id="4" name="Icon circle"/>
          <p:cNvSpPr/>
          <p:nvPr/>
        </p:nvSpPr>
        <p:spPr>
          <a:xfrm>
            <a:off x="2240280" y="320040"/>
            <a:ext cx="548640" cy="548640"/>
          </a:xfrm>
          <a:prstGeom prst="ellipse">
            <a:avLst/>
          </a:prstGeom>
          <a:solidFill>
            <a:schemeClr val="accent2"/>
          </a:solidFill>
          <a:ln/>
        </p:spPr>
      </p:sp>
      <p:pic>
        <p:nvPicPr>
          <p:cNvPr id="5" name="Image 0" descr="UserTie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Which drivers are rated above average?</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Well-rated drivers deliver more reliably and keep customers happy.</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Subquery  |  comparison</a:t>
            </a:r>
            <a:endParaRPr lang="en-US" sz="1100" dirty="0"/>
          </a:p>
        </p:txBody>
      </p:sp>
      <p:sp>
        <p:nvSpPr>
          <p:cNvPr id="11" name="Insight card"/>
          <p:cNvSpPr/>
          <p:nvPr/>
        </p:nvSpPr>
        <p:spPr>
          <a:xfrm>
            <a:off x="3383280" y="403860"/>
            <a:ext cx="5303520" cy="1051560"/>
          </a:xfrm>
          <a:prstGeom prst="roundRect">
            <a:avLst>
              <a:gd name="adj" fmla="val 6957"/>
            </a:avLst>
          </a:prstGeom>
          <a:solidFill>
            <a:schemeClr val="accent2"/>
          </a:solidFill>
          <a:ln/>
        </p:spPr>
      </p:sp>
      <p:sp>
        <p:nvSpPr>
          <p:cNvPr id="12" name="Text 9"/>
          <p:cNvSpPr txBox="1"/>
          <p:nvPr/>
        </p:nvSpPr>
        <p:spPr>
          <a:xfrm>
            <a:off x="3611880" y="36576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Drivers rated above the team average are the most reliable choice for important and long deliveries.</a:t>
            </a:r>
            <a:endParaRPr lang="en-US" sz="1300" dirty="0"/>
          </a:p>
        </p:txBody>
      </p:sp>
      <p:sp>
        <p:nvSpPr>
          <p:cNvPr id="13" name="SQL panel"/>
          <p:cNvSpPr/>
          <p:nvPr/>
        </p:nvSpPr>
        <p:spPr>
          <a:xfrm>
            <a:off x="3383280" y="1554480"/>
            <a:ext cx="2293034" cy="1209235"/>
          </a:xfrm>
          <a:prstGeom prst="roundRect">
            <a:avLst>
              <a:gd name="adj" fmla="val 3053"/>
            </a:avLst>
          </a:prstGeom>
          <a:solidFill>
            <a:schemeClr val="tx1"/>
          </a:solidFill>
          <a:ln/>
        </p:spPr>
      </p:sp>
      <p:sp>
        <p:nvSpPr>
          <p:cNvPr id="14" name="Text 11"/>
          <p:cNvSpPr txBox="1"/>
          <p:nvPr/>
        </p:nvSpPr>
        <p:spPr>
          <a:xfrm>
            <a:off x="3566160" y="1664208"/>
            <a:ext cx="1962443" cy="1050857"/>
          </a:xfrm>
          <a:prstGeom prst="rect">
            <a:avLst/>
          </a:prstGeom>
          <a:noFill/>
          <a:ln/>
        </p:spPr>
        <p:txBody>
          <a:bodyPr wrap="square" lIns="0" tIns="0" rIns="0" bIns="0" rtlCol="0" anchor="t"/>
          <a:lstStyle/>
          <a:p>
            <a:pPr marL="0" indent="0">
              <a:buNone/>
            </a:pPr>
            <a:r>
              <a:rPr lang="en-US" sz="700" dirty="0">
                <a:solidFill>
                  <a:srgbClr val="8AB17D"/>
                </a:solidFill>
                <a:latin typeface="Courier New" pitchFamily="34" charset="0"/>
                <a:ea typeface="Courier New" pitchFamily="34" charset="-122"/>
                <a:cs typeface="Courier New" pitchFamily="34" charset="-120"/>
              </a:rPr>
              <a:t>-- Drivers rated above the average</a:t>
            </a:r>
            <a:endParaRPr lang="en-US" sz="700" dirty="0"/>
          </a:p>
          <a:p>
            <a:pPr marL="0" indent="0">
              <a:buNone/>
            </a:pPr>
            <a:r>
              <a:rPr lang="en-US" sz="700" b="1" dirty="0">
                <a:solidFill>
                  <a:srgbClr val="FFB703"/>
                </a:solidFill>
                <a:latin typeface="Courier New" pitchFamily="34" charset="0"/>
                <a:ea typeface="Courier New" pitchFamily="34" charset="-122"/>
                <a:cs typeface="Courier New" pitchFamily="34" charset="-120"/>
              </a:rPr>
              <a:t>SELECT</a:t>
            </a:r>
            <a:r>
              <a:rPr lang="en-US" sz="700" dirty="0">
                <a:solidFill>
                  <a:srgbClr val="F2F3F5"/>
                </a:solidFill>
                <a:latin typeface="Courier New" pitchFamily="34" charset="0"/>
                <a:ea typeface="Courier New" pitchFamily="34" charset="-122"/>
                <a:cs typeface="Courier New" pitchFamily="34" charset="-120"/>
              </a:rPr>
              <a:t> driver_name,</a:t>
            </a:r>
            <a:endParaRPr lang="en-US" sz="700" dirty="0"/>
          </a:p>
          <a:p>
            <a:pPr marL="0" indent="0">
              <a:buNone/>
            </a:pPr>
            <a:r>
              <a:rPr lang="en-US" sz="700" dirty="0">
                <a:solidFill>
                  <a:srgbClr val="F2F3F5"/>
                </a:solidFill>
                <a:latin typeface="Courier New" pitchFamily="34" charset="0"/>
                <a:ea typeface="Courier New" pitchFamily="34" charset="-122"/>
                <a:cs typeface="Courier New" pitchFamily="34" charset="-120"/>
              </a:rPr>
              <a:t>       experience_years,</a:t>
            </a:r>
            <a:endParaRPr lang="en-US" sz="700" dirty="0"/>
          </a:p>
          <a:p>
            <a:pPr marL="0" indent="0">
              <a:buNone/>
            </a:pPr>
            <a:r>
              <a:rPr lang="en-US" sz="700" dirty="0">
                <a:solidFill>
                  <a:srgbClr val="F2F3F5"/>
                </a:solidFill>
                <a:latin typeface="Courier New" pitchFamily="34" charset="0"/>
                <a:ea typeface="Courier New" pitchFamily="34" charset="-122"/>
                <a:cs typeface="Courier New" pitchFamily="34" charset="-120"/>
              </a:rPr>
              <a:t>       rating</a:t>
            </a:r>
            <a:endParaRPr lang="en-US" sz="700" dirty="0"/>
          </a:p>
          <a:p>
            <a:pPr marL="0" indent="0">
              <a:buNone/>
            </a:pPr>
            <a:r>
              <a:rPr lang="en-US" sz="700" b="1" dirty="0">
                <a:solidFill>
                  <a:srgbClr val="FFB703"/>
                </a:solidFill>
                <a:latin typeface="Courier New" pitchFamily="34" charset="0"/>
                <a:ea typeface="Courier New" pitchFamily="34" charset="-122"/>
                <a:cs typeface="Courier New" pitchFamily="34" charset="-120"/>
              </a:rPr>
              <a:t>FROM</a:t>
            </a:r>
            <a:r>
              <a:rPr lang="en-US" sz="700" dirty="0">
                <a:solidFill>
                  <a:srgbClr val="F2F3F5"/>
                </a:solidFill>
                <a:latin typeface="Courier New" pitchFamily="34" charset="0"/>
                <a:ea typeface="Courier New" pitchFamily="34" charset="-122"/>
                <a:cs typeface="Courier New" pitchFamily="34" charset="-120"/>
              </a:rPr>
              <a:t> Drivers</a:t>
            </a:r>
            <a:endParaRPr lang="en-US" sz="700" dirty="0"/>
          </a:p>
          <a:p>
            <a:pPr marL="0" indent="0">
              <a:buNone/>
            </a:pPr>
            <a:r>
              <a:rPr lang="en-US" sz="700" b="1" dirty="0">
                <a:solidFill>
                  <a:srgbClr val="FFB703"/>
                </a:solidFill>
                <a:latin typeface="Courier New" pitchFamily="34" charset="0"/>
                <a:ea typeface="Courier New" pitchFamily="34" charset="-122"/>
                <a:cs typeface="Courier New" pitchFamily="34" charset="-120"/>
              </a:rPr>
              <a:t>WHERE</a:t>
            </a:r>
            <a:r>
              <a:rPr lang="en-US" sz="700" dirty="0">
                <a:solidFill>
                  <a:srgbClr val="F2F3F5"/>
                </a:solidFill>
                <a:latin typeface="Courier New" pitchFamily="34" charset="0"/>
                <a:ea typeface="Courier New" pitchFamily="34" charset="-122"/>
                <a:cs typeface="Courier New" pitchFamily="34" charset="-120"/>
              </a:rPr>
              <a:t> rating &gt; (</a:t>
            </a:r>
            <a:endParaRPr lang="en-US" sz="700" dirty="0"/>
          </a:p>
          <a:p>
            <a:pPr marL="0" indent="0">
              <a:buNone/>
            </a:pPr>
            <a:r>
              <a:rPr lang="en-US" sz="700" dirty="0">
                <a:solidFill>
                  <a:srgbClr val="F2F3F5"/>
                </a:solidFill>
                <a:latin typeface="Courier New" pitchFamily="34" charset="0"/>
                <a:ea typeface="Courier New" pitchFamily="34" charset="-122"/>
                <a:cs typeface="Courier New" pitchFamily="34" charset="-120"/>
              </a:rPr>
              <a:t>  </a:t>
            </a:r>
            <a:r>
              <a:rPr lang="en-US" sz="700" b="1" dirty="0">
                <a:solidFill>
                  <a:srgbClr val="FFB703"/>
                </a:solidFill>
                <a:latin typeface="Courier New" pitchFamily="34" charset="0"/>
                <a:ea typeface="Courier New" pitchFamily="34" charset="-122"/>
                <a:cs typeface="Courier New" pitchFamily="34" charset="-120"/>
              </a:rPr>
              <a:t>SELECT</a:t>
            </a:r>
            <a:r>
              <a:rPr lang="en-US" sz="700" dirty="0">
                <a:solidFill>
                  <a:srgbClr val="F2F3F5"/>
                </a:solidFill>
                <a:latin typeface="Courier New" pitchFamily="34" charset="0"/>
                <a:ea typeface="Courier New" pitchFamily="34" charset="-122"/>
                <a:cs typeface="Courier New" pitchFamily="34" charset="-120"/>
              </a:rPr>
              <a:t> </a:t>
            </a:r>
            <a:r>
              <a:rPr lang="en-US" sz="700" b="1" dirty="0">
                <a:solidFill>
                  <a:srgbClr val="FFB703"/>
                </a:solidFill>
                <a:latin typeface="Courier New" pitchFamily="34" charset="0"/>
                <a:ea typeface="Courier New" pitchFamily="34" charset="-122"/>
                <a:cs typeface="Courier New" pitchFamily="34" charset="-120"/>
              </a:rPr>
              <a:t>AVG</a:t>
            </a:r>
            <a:r>
              <a:rPr lang="en-US" sz="700" dirty="0">
                <a:solidFill>
                  <a:srgbClr val="F2F3F5"/>
                </a:solidFill>
                <a:latin typeface="Courier New" pitchFamily="34" charset="0"/>
                <a:ea typeface="Courier New" pitchFamily="34" charset="-122"/>
                <a:cs typeface="Courier New" pitchFamily="34" charset="-120"/>
              </a:rPr>
              <a:t>(rating) </a:t>
            </a:r>
            <a:r>
              <a:rPr lang="en-US" sz="700" b="1" dirty="0">
                <a:solidFill>
                  <a:srgbClr val="FFB703"/>
                </a:solidFill>
                <a:latin typeface="Courier New" pitchFamily="34" charset="0"/>
                <a:ea typeface="Courier New" pitchFamily="34" charset="-122"/>
                <a:cs typeface="Courier New" pitchFamily="34" charset="-120"/>
              </a:rPr>
              <a:t>FROM</a:t>
            </a:r>
            <a:r>
              <a:rPr lang="en-US" sz="700" dirty="0">
                <a:solidFill>
                  <a:srgbClr val="F2F3F5"/>
                </a:solidFill>
                <a:latin typeface="Courier New" pitchFamily="34" charset="0"/>
                <a:ea typeface="Courier New" pitchFamily="34" charset="-122"/>
                <a:cs typeface="Courier New" pitchFamily="34" charset="-120"/>
              </a:rPr>
              <a:t> Drivers</a:t>
            </a:r>
            <a:endParaRPr lang="en-US" sz="700" dirty="0"/>
          </a:p>
          <a:p>
            <a:pPr marL="0" indent="0">
              <a:buNone/>
            </a:pPr>
            <a:r>
              <a:rPr lang="en-US" sz="700" dirty="0">
                <a:solidFill>
                  <a:srgbClr val="F2F3F5"/>
                </a:solidFill>
                <a:latin typeface="Courier New" pitchFamily="34" charset="0"/>
                <a:ea typeface="Courier New" pitchFamily="34" charset="-122"/>
                <a:cs typeface="Courier New" pitchFamily="34" charset="-120"/>
              </a:rPr>
              <a:t>)</a:t>
            </a:r>
            <a:endParaRPr lang="en-US" sz="700" dirty="0"/>
          </a:p>
          <a:p>
            <a:pPr marL="0" indent="0">
              <a:buNone/>
            </a:pPr>
            <a:r>
              <a:rPr lang="en-US" sz="700" b="1" dirty="0">
                <a:solidFill>
                  <a:srgbClr val="FFB703"/>
                </a:solidFill>
                <a:latin typeface="Courier New" pitchFamily="34" charset="0"/>
                <a:ea typeface="Courier New" pitchFamily="34" charset="-122"/>
                <a:cs typeface="Courier New" pitchFamily="34" charset="-120"/>
              </a:rPr>
              <a:t>ORDER BY</a:t>
            </a:r>
            <a:r>
              <a:rPr lang="en-US" sz="700" dirty="0">
                <a:solidFill>
                  <a:srgbClr val="F2F3F5"/>
                </a:solidFill>
                <a:latin typeface="Courier New" pitchFamily="34" charset="0"/>
                <a:ea typeface="Courier New" pitchFamily="34" charset="-122"/>
                <a:cs typeface="Courier New" pitchFamily="34" charset="-120"/>
              </a:rPr>
              <a:t> rating </a:t>
            </a:r>
            <a:r>
              <a:rPr lang="en-US" sz="700" b="1" dirty="0">
                <a:solidFill>
                  <a:srgbClr val="FFB703"/>
                </a:solidFill>
                <a:latin typeface="Courier New" pitchFamily="34" charset="0"/>
                <a:ea typeface="Courier New" pitchFamily="34" charset="-122"/>
                <a:cs typeface="Courier New" pitchFamily="34" charset="-120"/>
              </a:rPr>
              <a:t>DESC</a:t>
            </a:r>
            <a:r>
              <a:rPr lang="en-US" sz="700" dirty="0">
                <a:solidFill>
                  <a:srgbClr val="F2F3F5"/>
                </a:solidFill>
                <a:latin typeface="Courier New" pitchFamily="34" charset="0"/>
                <a:ea typeface="Courier New" pitchFamily="34" charset="-122"/>
                <a:cs typeface="Courier New" pitchFamily="34" charset="-120"/>
              </a:rPr>
              <a:t>;</a:t>
            </a:r>
            <a:endParaRPr lang="en-US" sz="700" dirty="0"/>
          </a:p>
        </p:txBody>
      </p:sp>
      <p:sp>
        <p:nvSpPr>
          <p:cNvPr id="15" name="Action card"/>
          <p:cNvSpPr/>
          <p:nvPr/>
        </p:nvSpPr>
        <p:spPr>
          <a:xfrm>
            <a:off x="3383280" y="4023360"/>
            <a:ext cx="5303520" cy="731520"/>
          </a:xfrm>
          <a:prstGeom prst="roundRect">
            <a:avLst>
              <a:gd name="adj" fmla="val 10000"/>
            </a:avLst>
          </a:prstGeom>
          <a:solidFill>
            <a:schemeClr val="bg2"/>
          </a:solidFill>
          <a:ln/>
        </p:spPr>
      </p:sp>
      <p:sp>
        <p:nvSpPr>
          <p:cNvPr id="16" name="Text 13"/>
          <p:cNvSpPr txBox="1"/>
          <p:nvPr/>
        </p:nvSpPr>
        <p:spPr>
          <a:xfrm>
            <a:off x="3611880" y="4023360"/>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Give them important routes and let them guide new drivers.</a:t>
            </a:r>
            <a:endParaRPr lang="en-US" sz="1300" dirty="0"/>
          </a:p>
        </p:txBody>
      </p:sp>
      <p:sp>
        <p:nvSpPr>
          <p:cNvPr id="19" name="Speech Bubble: Rectangle 18">
            <a:extLst>
              <a:ext uri="{FF2B5EF4-FFF2-40B4-BE49-F238E27FC236}">
                <a16:creationId xmlns:a16="http://schemas.microsoft.com/office/drawing/2014/main" id="{DF68781F-A1E5-7A4F-1FE2-2082E94938EE}"/>
              </a:ext>
            </a:extLst>
          </p:cNvPr>
          <p:cNvSpPr/>
          <p:nvPr/>
        </p:nvSpPr>
        <p:spPr>
          <a:xfrm>
            <a:off x="5901397" y="2349010"/>
            <a:ext cx="2876843" cy="1209236"/>
          </a:xfrm>
          <a:prstGeom prst="wedgeRectCallout">
            <a:avLst>
              <a:gd name="adj1" fmla="val -57029"/>
              <a:gd name="adj2" fmla="val -20098"/>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A9923F30-8286-79D2-BE9B-067E02034E57}"/>
              </a:ext>
            </a:extLst>
          </p:cNvPr>
          <p:cNvPicPr>
            <a:picLocks noChangeAspect="1"/>
          </p:cNvPicPr>
          <p:nvPr/>
        </p:nvPicPr>
        <p:blipFill>
          <a:blip r:embed="rId5"/>
          <a:srcRect l="10846" t="45216" r="61923" b="38217"/>
          <a:stretch>
            <a:fillRect/>
          </a:stretch>
        </p:blipFill>
        <p:spPr>
          <a:xfrm>
            <a:off x="6012179" y="2423160"/>
            <a:ext cx="2655277" cy="10213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722E7D-E4F5-D29F-0BF8-A63BAC1152D9}"/>
              </a:ext>
            </a:extLst>
          </p:cNvPr>
          <p:cNvPicPr>
            <a:picLocks noChangeAspect="1"/>
          </p:cNvPicPr>
          <p:nvPr/>
        </p:nvPicPr>
        <p:blipFill>
          <a:blip r:embed="rId3"/>
          <a:stretch>
            <a:fillRect/>
          </a:stretch>
        </p:blipFill>
        <p:spPr>
          <a:xfrm>
            <a:off x="3017520" y="0"/>
            <a:ext cx="6126480" cy="5143500"/>
          </a:xfrm>
          <a:prstGeom prst="rect">
            <a:avLst/>
          </a:prstGeom>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05</a:t>
            </a:r>
            <a:endParaRPr lang="en-US" sz="4400" dirty="0"/>
          </a:p>
        </p:txBody>
      </p:sp>
      <p:sp>
        <p:nvSpPr>
          <p:cNvPr id="4" name="Icon circle"/>
          <p:cNvSpPr/>
          <p:nvPr/>
        </p:nvSpPr>
        <p:spPr>
          <a:xfrm>
            <a:off x="2240280" y="320040"/>
            <a:ext cx="548640" cy="548640"/>
          </a:xfrm>
          <a:prstGeom prst="ellipse">
            <a:avLst/>
          </a:prstGeom>
          <a:solidFill>
            <a:schemeClr val="accent3"/>
          </a:solidFill>
          <a:ln/>
        </p:spPr>
      </p:sp>
      <p:pic>
        <p:nvPicPr>
          <p:cNvPr id="5" name="Image 0" descr="ClipboardList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How many deliveries and how much cost are in each status?</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Shows how many deliveries are delayed or pending, and what they cost the company.</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COUNT  |  SUM  |  GROUP BY</a:t>
            </a:r>
            <a:endParaRPr lang="en-US" sz="1100" dirty="0"/>
          </a:p>
        </p:txBody>
      </p:sp>
      <p:sp>
        <p:nvSpPr>
          <p:cNvPr id="11" name="Insight card"/>
          <p:cNvSpPr/>
          <p:nvPr/>
        </p:nvSpPr>
        <p:spPr>
          <a:xfrm>
            <a:off x="3383280" y="365760"/>
            <a:ext cx="5303520" cy="1051560"/>
          </a:xfrm>
          <a:prstGeom prst="roundRect">
            <a:avLst>
              <a:gd name="adj" fmla="val 6957"/>
            </a:avLst>
          </a:prstGeom>
          <a:solidFill>
            <a:schemeClr val="accent2"/>
          </a:solidFill>
          <a:ln/>
        </p:spPr>
      </p:sp>
      <p:sp>
        <p:nvSpPr>
          <p:cNvPr id="12" name="Text 9"/>
          <p:cNvSpPr txBox="1"/>
          <p:nvPr/>
        </p:nvSpPr>
        <p:spPr>
          <a:xfrm>
            <a:off x="3611880" y="34290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Delayed and pending deliveries are where extra cost builds up, so tracking deliveries by status shows where to improve.</a:t>
            </a:r>
            <a:endParaRPr lang="en-US" sz="1300" dirty="0"/>
          </a:p>
        </p:txBody>
      </p:sp>
      <p:sp>
        <p:nvSpPr>
          <p:cNvPr id="13" name="SQL panel"/>
          <p:cNvSpPr/>
          <p:nvPr/>
        </p:nvSpPr>
        <p:spPr>
          <a:xfrm>
            <a:off x="3383280" y="1645920"/>
            <a:ext cx="2377440" cy="1051560"/>
          </a:xfrm>
          <a:prstGeom prst="roundRect">
            <a:avLst>
              <a:gd name="adj" fmla="val 3158"/>
            </a:avLst>
          </a:prstGeom>
          <a:solidFill>
            <a:schemeClr val="tx1"/>
          </a:solidFill>
          <a:ln/>
        </p:spPr>
      </p:sp>
      <p:sp>
        <p:nvSpPr>
          <p:cNvPr id="14" name="Text 11"/>
          <p:cNvSpPr txBox="1"/>
          <p:nvPr/>
        </p:nvSpPr>
        <p:spPr>
          <a:xfrm>
            <a:off x="3566160" y="1772529"/>
            <a:ext cx="2194560" cy="1064924"/>
          </a:xfrm>
          <a:prstGeom prst="rect">
            <a:avLst/>
          </a:prstGeom>
          <a:noFill/>
          <a:ln/>
        </p:spPr>
        <p:txBody>
          <a:bodyPr wrap="square" lIns="0" tIns="0" rIns="0" bIns="0" rtlCol="0" anchor="t"/>
          <a:lstStyle/>
          <a:p>
            <a:pPr marL="0" indent="0">
              <a:buNone/>
            </a:pPr>
            <a:r>
              <a:rPr lang="en-US" sz="600" dirty="0">
                <a:solidFill>
                  <a:srgbClr val="8AB17D"/>
                </a:solidFill>
                <a:latin typeface="Courier New" pitchFamily="34" charset="0"/>
                <a:ea typeface="Courier New" pitchFamily="34" charset="-122"/>
                <a:cs typeface="Courier New" pitchFamily="34" charset="-120"/>
              </a:rPr>
              <a:t>-- Deliveries and cost by status</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SELECT</a:t>
            </a:r>
            <a:r>
              <a:rPr lang="en-US" sz="600" dirty="0">
                <a:solidFill>
                  <a:srgbClr val="F2F3F5"/>
                </a:solidFill>
                <a:latin typeface="Courier New" pitchFamily="34" charset="0"/>
                <a:ea typeface="Courier New" pitchFamily="34" charset="-122"/>
                <a:cs typeface="Courier New" pitchFamily="34" charset="-120"/>
              </a:rPr>
              <a:t> delivery_status,</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COUNT</a:t>
            </a: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deliveries,</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SUM</a:t>
            </a:r>
            <a:r>
              <a:rPr lang="en-US" sz="600" dirty="0">
                <a:solidFill>
                  <a:srgbClr val="F2F3F5"/>
                </a:solidFill>
                <a:latin typeface="Courier New" pitchFamily="34" charset="0"/>
                <a:ea typeface="Courier New" pitchFamily="34" charset="-122"/>
                <a:cs typeface="Courier New" pitchFamily="34" charset="-120"/>
              </a:rPr>
              <a:t>(delivery_cost)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delivery_cost,</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SUM</a:t>
            </a:r>
            <a:r>
              <a:rPr lang="en-US" sz="600" dirty="0">
                <a:solidFill>
                  <a:srgbClr val="F2F3F5"/>
                </a:solidFill>
                <a:latin typeface="Courier New" pitchFamily="34" charset="0"/>
                <a:ea typeface="Courier New" pitchFamily="34" charset="-122"/>
                <a:cs typeface="Courier New" pitchFamily="34" charset="-120"/>
              </a:rPr>
              <a:t>(fuel_cost)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fuel_cost</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FROM</a:t>
            </a:r>
            <a:r>
              <a:rPr lang="en-US" sz="600" dirty="0">
                <a:solidFill>
                  <a:srgbClr val="F2F3F5"/>
                </a:solidFill>
                <a:latin typeface="Courier New" pitchFamily="34" charset="0"/>
                <a:ea typeface="Courier New" pitchFamily="34" charset="-122"/>
                <a:cs typeface="Courier New" pitchFamily="34" charset="-120"/>
              </a:rPr>
              <a:t> Deliveries</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GROUP BY</a:t>
            </a:r>
            <a:r>
              <a:rPr lang="en-US" sz="600" dirty="0">
                <a:solidFill>
                  <a:srgbClr val="F2F3F5"/>
                </a:solidFill>
                <a:latin typeface="Courier New" pitchFamily="34" charset="0"/>
                <a:ea typeface="Courier New" pitchFamily="34" charset="-122"/>
                <a:cs typeface="Courier New" pitchFamily="34" charset="-120"/>
              </a:rPr>
              <a:t> delivery_status</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ORDER BY</a:t>
            </a:r>
            <a:r>
              <a:rPr lang="en-US" sz="600" dirty="0">
                <a:solidFill>
                  <a:srgbClr val="F2F3F5"/>
                </a:solidFill>
                <a:latin typeface="Courier New" pitchFamily="34" charset="0"/>
                <a:ea typeface="Courier New" pitchFamily="34" charset="-122"/>
                <a:cs typeface="Courier New" pitchFamily="34" charset="-120"/>
              </a:rPr>
              <a:t> deliveries </a:t>
            </a:r>
            <a:r>
              <a:rPr lang="en-US" sz="600" b="1" dirty="0">
                <a:solidFill>
                  <a:srgbClr val="FFB703"/>
                </a:solidFill>
                <a:latin typeface="Courier New" pitchFamily="34" charset="0"/>
                <a:ea typeface="Courier New" pitchFamily="34" charset="-122"/>
                <a:cs typeface="Courier New" pitchFamily="34" charset="-120"/>
              </a:rPr>
              <a:t>DESC</a:t>
            </a:r>
            <a:r>
              <a:rPr lang="en-US" sz="600" dirty="0">
                <a:solidFill>
                  <a:srgbClr val="F2F3F5"/>
                </a:solidFill>
                <a:latin typeface="Courier New" pitchFamily="34" charset="0"/>
                <a:ea typeface="Courier New" pitchFamily="34" charset="-122"/>
                <a:cs typeface="Courier New" pitchFamily="34" charset="-120"/>
              </a:rPr>
              <a:t>;</a:t>
            </a:r>
            <a:endParaRPr lang="en-US" sz="600" dirty="0"/>
          </a:p>
        </p:txBody>
      </p:sp>
      <p:sp>
        <p:nvSpPr>
          <p:cNvPr id="15" name="Action card"/>
          <p:cNvSpPr/>
          <p:nvPr/>
        </p:nvSpPr>
        <p:spPr>
          <a:xfrm>
            <a:off x="3383280" y="4023360"/>
            <a:ext cx="5303520" cy="731520"/>
          </a:xfrm>
          <a:prstGeom prst="roundRect">
            <a:avLst>
              <a:gd name="adj" fmla="val 10000"/>
            </a:avLst>
          </a:prstGeom>
          <a:solidFill>
            <a:schemeClr val="bg2"/>
          </a:solidFill>
          <a:ln/>
        </p:spPr>
      </p:sp>
      <p:sp>
        <p:nvSpPr>
          <p:cNvPr id="16" name="Text 13"/>
          <p:cNvSpPr txBox="1"/>
          <p:nvPr/>
        </p:nvSpPr>
        <p:spPr>
          <a:xfrm>
            <a:off x="3611880" y="4023360"/>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Find the cause of delays, such as traffic or vehicle problems, to cut extra cost.</a:t>
            </a:r>
            <a:endParaRPr lang="en-US" sz="1300" dirty="0"/>
          </a:p>
        </p:txBody>
      </p:sp>
      <p:sp>
        <p:nvSpPr>
          <p:cNvPr id="19" name="Speech Bubble: Rectangle 18">
            <a:extLst>
              <a:ext uri="{FF2B5EF4-FFF2-40B4-BE49-F238E27FC236}">
                <a16:creationId xmlns:a16="http://schemas.microsoft.com/office/drawing/2014/main" id="{68C7F828-C8C0-026D-7C97-75E768A78131}"/>
              </a:ext>
            </a:extLst>
          </p:cNvPr>
          <p:cNvSpPr/>
          <p:nvPr/>
        </p:nvSpPr>
        <p:spPr>
          <a:xfrm>
            <a:off x="5989319" y="2196669"/>
            <a:ext cx="2577905" cy="1064925"/>
          </a:xfrm>
          <a:prstGeom prst="wedgeRectCallout">
            <a:avLst>
              <a:gd name="adj1" fmla="val -59790"/>
              <a:gd name="adj2" fmla="val -21061"/>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B555ECEB-1CF8-047E-3344-523F69585085}"/>
              </a:ext>
            </a:extLst>
          </p:cNvPr>
          <p:cNvPicPr>
            <a:picLocks noChangeAspect="1"/>
          </p:cNvPicPr>
          <p:nvPr/>
        </p:nvPicPr>
        <p:blipFill>
          <a:blip r:embed="rId5"/>
          <a:srcRect l="11000" t="46000" r="63000" b="38362"/>
          <a:stretch>
            <a:fillRect/>
          </a:stretch>
        </p:blipFill>
        <p:spPr>
          <a:xfrm>
            <a:off x="6056141" y="2271932"/>
            <a:ext cx="2402059" cy="914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D03B1CA-8982-915C-942A-82F57FF92DAA}"/>
              </a:ext>
            </a:extLst>
          </p:cNvPr>
          <p:cNvPicPr>
            <a:picLocks noChangeAspect="1"/>
          </p:cNvPicPr>
          <p:nvPr/>
        </p:nvPicPr>
        <p:blipFill>
          <a:blip r:embed="rId3"/>
          <a:stretch>
            <a:fillRect/>
          </a:stretch>
        </p:blipFill>
        <p:spPr>
          <a:xfrm>
            <a:off x="3017520" y="0"/>
            <a:ext cx="6126480" cy="5143500"/>
          </a:xfrm>
          <a:prstGeom prst="rect">
            <a:avLst/>
          </a:prstGeom>
        </p:spPr>
      </p:pic>
      <p:sp>
        <p:nvSpPr>
          <p:cNvPr id="2" name="Quest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365760" y="228600"/>
            <a:ext cx="1463040" cy="731520"/>
          </a:xfrm>
          <a:prstGeom prst="rect">
            <a:avLst/>
          </a:prstGeom>
          <a:noFill/>
          <a:ln/>
        </p:spPr>
        <p:txBody>
          <a:bodyPr wrap="square" lIns="0" tIns="0" rIns="0" bIns="0" rtlCol="0" anchor="ctr"/>
          <a:lstStyle/>
          <a:p>
            <a:pPr marL="0" indent="0">
              <a:buNone/>
            </a:pPr>
            <a:r>
              <a:rPr lang="en-US" sz="4400" b="1" dirty="0">
                <a:solidFill>
                  <a:schemeClr val="accent1"/>
                </a:solidFill>
                <a:latin typeface="Century Schoolbook" pitchFamily="34" charset="0"/>
                <a:ea typeface="Century Schoolbook" pitchFamily="34" charset="-122"/>
                <a:cs typeface="Century Schoolbook" pitchFamily="34" charset="-120"/>
              </a:rPr>
              <a:t>06</a:t>
            </a:r>
            <a:endParaRPr lang="en-US" sz="4400" dirty="0"/>
          </a:p>
        </p:txBody>
      </p:sp>
      <p:sp>
        <p:nvSpPr>
          <p:cNvPr id="4" name="Icon circle"/>
          <p:cNvSpPr/>
          <p:nvPr/>
        </p:nvSpPr>
        <p:spPr>
          <a:xfrm>
            <a:off x="2240280" y="320040"/>
            <a:ext cx="548640" cy="548640"/>
          </a:xfrm>
          <a:prstGeom prst="ellipse">
            <a:avLst/>
          </a:prstGeom>
          <a:solidFill>
            <a:schemeClr val="accent4"/>
          </a:solidFill>
          <a:ln/>
        </p:spPr>
      </p:sp>
      <p:pic>
        <p:nvPicPr>
          <p:cNvPr id="5" name="Image 0" descr="Route icon"/>
          <p:cNvPicPr>
            <a:picLocks noChangeAspect="1"/>
          </p:cNvPicPr>
          <p:nvPr/>
        </p:nvPicPr>
        <p:blipFill>
          <a:blip r:embed="rId4"/>
          <a:stretch>
            <a:fillRect/>
          </a:stretch>
        </p:blipFill>
        <p:spPr>
          <a:xfrm>
            <a:off x="2388413" y="468173"/>
            <a:ext cx="252374" cy="252374"/>
          </a:xfrm>
          <a:prstGeom prst="rect">
            <a:avLst/>
          </a:prstGeom>
        </p:spPr>
      </p:pic>
      <p:sp>
        <p:nvSpPr>
          <p:cNvPr id="6" name="Text 3"/>
          <p:cNvSpPr txBox="1"/>
          <p:nvPr/>
        </p:nvSpPr>
        <p:spPr>
          <a:xfrm>
            <a:off x="365760" y="109728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BUSINESS QUESTION</a:t>
            </a:r>
            <a:endParaRPr lang="en-US" sz="1000" dirty="0"/>
          </a:p>
        </p:txBody>
      </p:sp>
      <p:sp>
        <p:nvSpPr>
          <p:cNvPr id="7" name="Text 4"/>
          <p:cNvSpPr txBox="1"/>
          <p:nvPr/>
        </p:nvSpPr>
        <p:spPr>
          <a:xfrm>
            <a:off x="365760" y="1325880"/>
            <a:ext cx="2377440" cy="914400"/>
          </a:xfrm>
          <a:prstGeom prst="rect">
            <a:avLst/>
          </a:prstGeom>
          <a:noFill/>
          <a:ln/>
        </p:spPr>
        <p:txBody>
          <a:bodyPr wrap="square" lIns="0" tIns="0" rIns="0" bIns="0" rtlCol="0" anchor="t"/>
          <a:lstStyle/>
          <a:p>
            <a:pPr marL="0" indent="0">
              <a:buNone/>
            </a:pPr>
            <a:r>
              <a:rPr lang="en-US" sz="1600" b="1" dirty="0">
                <a:solidFill>
                  <a:schemeClr val="bg1"/>
                </a:solidFill>
              </a:rPr>
              <a:t>Which route has the highest fuel cost?</a:t>
            </a:r>
            <a:endParaRPr lang="en-US" sz="1600" dirty="0"/>
          </a:p>
        </p:txBody>
      </p:sp>
      <p:sp>
        <p:nvSpPr>
          <p:cNvPr id="8" name="Text 5"/>
          <p:cNvSpPr txBox="1"/>
          <p:nvPr/>
        </p:nvSpPr>
        <p:spPr>
          <a:xfrm>
            <a:off x="365760" y="2423160"/>
            <a:ext cx="2377440" cy="228600"/>
          </a:xfrm>
          <a:prstGeom prst="rect">
            <a:avLst/>
          </a:prstGeom>
          <a:noFill/>
          <a:ln/>
        </p:spPr>
        <p:txBody>
          <a:bodyPr wrap="square" lIns="0" tIns="0" rIns="0" bIns="0" rtlCol="0" anchor="ctr"/>
          <a:lstStyle/>
          <a:p>
            <a:pPr marL="0" indent="0">
              <a:buNone/>
            </a:pPr>
            <a:r>
              <a:rPr lang="en-US" sz="1000" b="1" dirty="0">
                <a:solidFill>
                  <a:schemeClr val="accent1"/>
                </a:solidFill>
              </a:rPr>
              <a:t>WHY IT MATTERS</a:t>
            </a:r>
            <a:endParaRPr lang="en-US" sz="1000" dirty="0"/>
          </a:p>
        </p:txBody>
      </p:sp>
      <p:sp>
        <p:nvSpPr>
          <p:cNvPr id="9" name="Text 6"/>
          <p:cNvSpPr txBox="1"/>
          <p:nvPr/>
        </p:nvSpPr>
        <p:spPr>
          <a:xfrm>
            <a:off x="365760" y="2651760"/>
            <a:ext cx="2377440" cy="1097280"/>
          </a:xfrm>
          <a:prstGeom prst="rect">
            <a:avLst/>
          </a:prstGeom>
          <a:noFill/>
          <a:ln/>
        </p:spPr>
        <p:txBody>
          <a:bodyPr wrap="square" lIns="0" tIns="0" rIns="0" bIns="0" rtlCol="0" anchor="t"/>
          <a:lstStyle/>
          <a:p>
            <a:pPr marL="0" indent="0">
              <a:buNone/>
            </a:pPr>
            <a:r>
              <a:rPr lang="en-US" sz="1250" dirty="0">
                <a:solidFill>
                  <a:schemeClr val="bg2"/>
                </a:solidFill>
              </a:rPr>
              <a:t>Expensive routes reduce profit, so they are the best place to save money.</a:t>
            </a:r>
            <a:endParaRPr lang="en-US" sz="1250" dirty="0"/>
          </a:p>
        </p:txBody>
      </p:sp>
      <p:sp>
        <p:nvSpPr>
          <p:cNvPr id="10" name="Text 7"/>
          <p:cNvSpPr txBox="1"/>
          <p:nvPr/>
        </p:nvSpPr>
        <p:spPr>
          <a:xfrm>
            <a:off x="365760" y="4434840"/>
            <a:ext cx="2377440" cy="320040"/>
          </a:xfrm>
          <a:prstGeom prst="rect">
            <a:avLst/>
          </a:prstGeom>
          <a:noFill/>
          <a:ln/>
        </p:spPr>
        <p:txBody>
          <a:bodyPr wrap="square" lIns="0" tIns="0" rIns="0" bIns="0" rtlCol="0" anchor="ctr"/>
          <a:lstStyle/>
          <a:p>
            <a:pPr marL="0" indent="0">
              <a:buNone/>
            </a:pPr>
            <a:r>
              <a:rPr lang="en-US" sz="1100" i="1" dirty="0">
                <a:solidFill>
                  <a:schemeClr val="accent5"/>
                </a:solidFill>
              </a:rPr>
              <a:t>JOIN  |  SUM  |  RANK()</a:t>
            </a:r>
            <a:endParaRPr lang="en-US" sz="1100" dirty="0"/>
          </a:p>
        </p:txBody>
      </p:sp>
      <p:sp>
        <p:nvSpPr>
          <p:cNvPr id="11" name="Insight card"/>
          <p:cNvSpPr/>
          <p:nvPr/>
        </p:nvSpPr>
        <p:spPr>
          <a:xfrm>
            <a:off x="3383280" y="365760"/>
            <a:ext cx="5303520" cy="1051560"/>
          </a:xfrm>
          <a:prstGeom prst="roundRect">
            <a:avLst>
              <a:gd name="adj" fmla="val 6957"/>
            </a:avLst>
          </a:prstGeom>
          <a:solidFill>
            <a:schemeClr val="accent2"/>
          </a:solidFill>
          <a:ln/>
        </p:spPr>
      </p:sp>
      <p:sp>
        <p:nvSpPr>
          <p:cNvPr id="12" name="Text 9"/>
          <p:cNvSpPr txBox="1"/>
          <p:nvPr/>
        </p:nvSpPr>
        <p:spPr>
          <a:xfrm>
            <a:off x="3611880" y="365760"/>
            <a:ext cx="4846320" cy="1051560"/>
          </a:xfrm>
          <a:prstGeom prst="rect">
            <a:avLst/>
          </a:prstGeom>
          <a:noFill/>
          <a:ln/>
        </p:spPr>
        <p:txBody>
          <a:bodyPr wrap="square" lIns="0" tIns="0" rIns="0" bIns="0" rtlCol="0" anchor="ctr"/>
          <a:lstStyle/>
          <a:p>
            <a:pPr marL="0" indent="0">
              <a:buNone/>
            </a:pPr>
            <a:r>
              <a:rPr lang="en-US" sz="1000" b="1" dirty="0">
                <a:solidFill>
                  <a:schemeClr val="accent1"/>
                </a:solidFill>
              </a:rPr>
              <a:t>KEY INSIGHT</a:t>
            </a:r>
            <a:endParaRPr lang="en-US" sz="1300" dirty="0"/>
          </a:p>
          <a:p>
            <a:pPr marL="0" indent="0">
              <a:buNone/>
            </a:pPr>
            <a:r>
              <a:rPr lang="en-US" sz="1400" b="1" dirty="0">
                <a:solidFill>
                  <a:schemeClr val="bg1"/>
                </a:solidFill>
              </a:rPr>
              <a:t>The route with the highest fuel cost takes the biggest share of delivery spending, so it is the best place to save money.</a:t>
            </a:r>
            <a:endParaRPr lang="en-US" sz="1300" dirty="0"/>
          </a:p>
        </p:txBody>
      </p:sp>
      <p:sp>
        <p:nvSpPr>
          <p:cNvPr id="13" name="SQL panel"/>
          <p:cNvSpPr/>
          <p:nvPr/>
        </p:nvSpPr>
        <p:spPr>
          <a:xfrm>
            <a:off x="3383280" y="1554480"/>
            <a:ext cx="2482948" cy="1280160"/>
          </a:xfrm>
          <a:prstGeom prst="roundRect">
            <a:avLst>
              <a:gd name="adj" fmla="val 2570"/>
            </a:avLst>
          </a:prstGeom>
          <a:solidFill>
            <a:schemeClr val="tx1"/>
          </a:solidFill>
          <a:ln/>
        </p:spPr>
      </p:sp>
      <p:sp>
        <p:nvSpPr>
          <p:cNvPr id="14" name="Text 11"/>
          <p:cNvSpPr txBox="1"/>
          <p:nvPr/>
        </p:nvSpPr>
        <p:spPr>
          <a:xfrm>
            <a:off x="3566160" y="1664208"/>
            <a:ext cx="2124222" cy="1071958"/>
          </a:xfrm>
          <a:prstGeom prst="rect">
            <a:avLst/>
          </a:prstGeom>
          <a:noFill/>
          <a:ln/>
        </p:spPr>
        <p:txBody>
          <a:bodyPr wrap="square" lIns="0" tIns="0" rIns="0" bIns="0" rtlCol="0" anchor="t"/>
          <a:lstStyle/>
          <a:p>
            <a:pPr marL="0" indent="0">
              <a:buNone/>
            </a:pPr>
            <a:r>
              <a:rPr lang="en-US" sz="600" dirty="0">
                <a:solidFill>
                  <a:srgbClr val="8AB17D"/>
                </a:solidFill>
                <a:latin typeface="Courier New" pitchFamily="34" charset="0"/>
                <a:ea typeface="Courier New" pitchFamily="34" charset="-122"/>
                <a:cs typeface="Courier New" pitchFamily="34" charset="-120"/>
              </a:rPr>
              <a:t>-- Rank routes by total fuel cost</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SELECT</a:t>
            </a:r>
            <a:r>
              <a:rPr lang="en-US" sz="600" dirty="0">
                <a:solidFill>
                  <a:srgbClr val="F2F3F5"/>
                </a:solidFill>
                <a:latin typeface="Courier New" pitchFamily="34" charset="0"/>
                <a:ea typeface="Courier New" pitchFamily="34" charset="-122"/>
                <a:cs typeface="Courier New" pitchFamily="34" charset="-120"/>
              </a:rPr>
              <a:t> r.source_city,</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r.destination_city,</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SUM</a:t>
            </a:r>
            <a:r>
              <a:rPr lang="en-US" sz="600" dirty="0">
                <a:solidFill>
                  <a:srgbClr val="F2F3F5"/>
                </a:solidFill>
                <a:latin typeface="Courier New" pitchFamily="34" charset="0"/>
                <a:ea typeface="Courier New" pitchFamily="34" charset="-122"/>
                <a:cs typeface="Courier New" pitchFamily="34" charset="-120"/>
              </a:rPr>
              <a:t>(d.fuel_cost)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total_fuel_cost,</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RANK</a:t>
            </a: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OVER</a:t>
            </a:r>
            <a:r>
              <a:rPr lang="en-US" sz="600" dirty="0">
                <a:solidFill>
                  <a:srgbClr val="F2F3F5"/>
                </a:solidFill>
                <a:latin typeface="Courier New" pitchFamily="34" charset="0"/>
                <a:ea typeface="Courier New" pitchFamily="34" charset="-122"/>
                <a:cs typeface="Courier New" pitchFamily="34" charset="-120"/>
              </a:rPr>
              <a:t> (</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ORDER BY</a:t>
            </a:r>
            <a:r>
              <a:rPr lang="en-US" sz="600" dirty="0">
                <a:solidFill>
                  <a:srgbClr val="F2F3F5"/>
                </a:solidFill>
                <a:latin typeface="Courier New" pitchFamily="34" charset="0"/>
                <a:ea typeface="Courier New" pitchFamily="34" charset="-122"/>
                <a:cs typeface="Courier New" pitchFamily="34" charset="-120"/>
              </a:rPr>
              <a:t> </a:t>
            </a:r>
            <a:r>
              <a:rPr lang="en-US" sz="600" b="1" dirty="0">
                <a:solidFill>
                  <a:srgbClr val="FFB703"/>
                </a:solidFill>
                <a:latin typeface="Courier New" pitchFamily="34" charset="0"/>
                <a:ea typeface="Courier New" pitchFamily="34" charset="-122"/>
                <a:cs typeface="Courier New" pitchFamily="34" charset="-120"/>
              </a:rPr>
              <a:t>SUM</a:t>
            </a:r>
            <a:r>
              <a:rPr lang="en-US" sz="600" dirty="0">
                <a:solidFill>
                  <a:srgbClr val="F2F3F5"/>
                </a:solidFill>
                <a:latin typeface="Courier New" pitchFamily="34" charset="0"/>
                <a:ea typeface="Courier New" pitchFamily="34" charset="-122"/>
                <a:cs typeface="Courier New" pitchFamily="34" charset="-120"/>
              </a:rPr>
              <a:t>(d.fuel_cost) </a:t>
            </a:r>
            <a:r>
              <a:rPr lang="en-US" sz="600" b="1" dirty="0">
                <a:solidFill>
                  <a:srgbClr val="FFB703"/>
                </a:solidFill>
                <a:latin typeface="Courier New" pitchFamily="34" charset="0"/>
                <a:ea typeface="Courier New" pitchFamily="34" charset="-122"/>
                <a:cs typeface="Courier New" pitchFamily="34" charset="-120"/>
              </a:rPr>
              <a:t>DESC</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 </a:t>
            </a:r>
            <a:r>
              <a:rPr lang="en-US" sz="600" b="1" dirty="0">
                <a:solidFill>
                  <a:srgbClr val="FFB703"/>
                </a:solidFill>
                <a:latin typeface="Courier New" pitchFamily="34" charset="0"/>
                <a:ea typeface="Courier New" pitchFamily="34" charset="-122"/>
                <a:cs typeface="Courier New" pitchFamily="34" charset="-120"/>
              </a:rPr>
              <a:t>AS</a:t>
            </a:r>
            <a:r>
              <a:rPr lang="en-US" sz="600" dirty="0">
                <a:solidFill>
                  <a:srgbClr val="F2F3F5"/>
                </a:solidFill>
                <a:latin typeface="Courier New" pitchFamily="34" charset="0"/>
                <a:ea typeface="Courier New" pitchFamily="34" charset="-122"/>
                <a:cs typeface="Courier New" pitchFamily="34" charset="-120"/>
              </a:rPr>
              <a:t> cost_rank</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FROM</a:t>
            </a:r>
            <a:r>
              <a:rPr lang="en-US" sz="600" dirty="0">
                <a:solidFill>
                  <a:srgbClr val="F2F3F5"/>
                </a:solidFill>
                <a:latin typeface="Courier New" pitchFamily="34" charset="0"/>
                <a:ea typeface="Courier New" pitchFamily="34" charset="-122"/>
                <a:cs typeface="Courier New" pitchFamily="34" charset="-120"/>
              </a:rPr>
              <a:t> Deliveries d</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JOIN</a:t>
            </a:r>
            <a:r>
              <a:rPr lang="en-US" sz="600" dirty="0">
                <a:solidFill>
                  <a:srgbClr val="F2F3F5"/>
                </a:solidFill>
                <a:latin typeface="Courier New" pitchFamily="34" charset="0"/>
                <a:ea typeface="Courier New" pitchFamily="34" charset="-122"/>
                <a:cs typeface="Courier New" pitchFamily="34" charset="-120"/>
              </a:rPr>
              <a:t> Routes r </a:t>
            </a:r>
            <a:r>
              <a:rPr lang="en-US" sz="600" b="1" dirty="0">
                <a:solidFill>
                  <a:srgbClr val="FFB703"/>
                </a:solidFill>
                <a:latin typeface="Courier New" pitchFamily="34" charset="0"/>
                <a:ea typeface="Courier New" pitchFamily="34" charset="-122"/>
                <a:cs typeface="Courier New" pitchFamily="34" charset="-120"/>
              </a:rPr>
              <a:t>ON</a:t>
            </a:r>
            <a:r>
              <a:rPr lang="en-US" sz="600" dirty="0">
                <a:solidFill>
                  <a:srgbClr val="F2F3F5"/>
                </a:solidFill>
                <a:latin typeface="Courier New" pitchFamily="34" charset="0"/>
                <a:ea typeface="Courier New" pitchFamily="34" charset="-122"/>
                <a:cs typeface="Courier New" pitchFamily="34" charset="-120"/>
              </a:rPr>
              <a:t> d.route_id = r.route_id</a:t>
            </a:r>
            <a:endParaRPr lang="en-US" sz="600" dirty="0"/>
          </a:p>
          <a:p>
            <a:pPr marL="0" indent="0">
              <a:buNone/>
            </a:pPr>
            <a:r>
              <a:rPr lang="en-US" sz="600" b="1" dirty="0">
                <a:solidFill>
                  <a:srgbClr val="FFB703"/>
                </a:solidFill>
                <a:latin typeface="Courier New" pitchFamily="34" charset="0"/>
                <a:ea typeface="Courier New" pitchFamily="34" charset="-122"/>
                <a:cs typeface="Courier New" pitchFamily="34" charset="-120"/>
              </a:rPr>
              <a:t>GROUP BY</a:t>
            </a:r>
            <a:r>
              <a:rPr lang="en-US" sz="600" dirty="0">
                <a:solidFill>
                  <a:srgbClr val="F2F3F5"/>
                </a:solidFill>
                <a:latin typeface="Courier New" pitchFamily="34" charset="0"/>
                <a:ea typeface="Courier New" pitchFamily="34" charset="-122"/>
                <a:cs typeface="Courier New" pitchFamily="34" charset="-120"/>
              </a:rPr>
              <a:t> r.route_id, r.source_city,</a:t>
            </a:r>
            <a:endParaRPr lang="en-US" sz="600" dirty="0"/>
          </a:p>
          <a:p>
            <a:pPr marL="0" indent="0">
              <a:buNone/>
            </a:pPr>
            <a:r>
              <a:rPr lang="en-US" sz="600" dirty="0">
                <a:solidFill>
                  <a:srgbClr val="F2F3F5"/>
                </a:solidFill>
                <a:latin typeface="Courier New" pitchFamily="34" charset="0"/>
                <a:ea typeface="Courier New" pitchFamily="34" charset="-122"/>
                <a:cs typeface="Courier New" pitchFamily="34" charset="-120"/>
              </a:rPr>
              <a:t>         r.destination_city;</a:t>
            </a:r>
            <a:endParaRPr lang="en-US" sz="600" dirty="0"/>
          </a:p>
        </p:txBody>
      </p:sp>
      <p:sp>
        <p:nvSpPr>
          <p:cNvPr id="15" name="Action card"/>
          <p:cNvSpPr/>
          <p:nvPr/>
        </p:nvSpPr>
        <p:spPr>
          <a:xfrm>
            <a:off x="3383280" y="4023360"/>
            <a:ext cx="5303520" cy="731520"/>
          </a:xfrm>
          <a:prstGeom prst="roundRect">
            <a:avLst>
              <a:gd name="adj" fmla="val 10000"/>
            </a:avLst>
          </a:prstGeom>
          <a:solidFill>
            <a:schemeClr val="bg2"/>
          </a:solidFill>
          <a:ln/>
        </p:spPr>
      </p:sp>
      <p:sp>
        <p:nvSpPr>
          <p:cNvPr id="16" name="Text 13"/>
          <p:cNvSpPr txBox="1"/>
          <p:nvPr/>
        </p:nvSpPr>
        <p:spPr>
          <a:xfrm>
            <a:off x="3611880" y="4023360"/>
            <a:ext cx="4846320" cy="731520"/>
          </a:xfrm>
          <a:prstGeom prst="rect">
            <a:avLst/>
          </a:prstGeom>
          <a:noFill/>
          <a:ln/>
        </p:spPr>
        <p:txBody>
          <a:bodyPr wrap="square" lIns="0" tIns="0" rIns="0" bIns="0" rtlCol="0" anchor="ctr"/>
          <a:lstStyle/>
          <a:p>
            <a:pPr marL="0" indent="0">
              <a:buNone/>
            </a:pPr>
            <a:r>
              <a:rPr lang="en-US" sz="1000" b="1" dirty="0">
                <a:solidFill>
                  <a:schemeClr val="accent3"/>
                </a:solidFill>
              </a:rPr>
              <a:t>WHAT WE DO  </a:t>
            </a:r>
            <a:r>
              <a:rPr lang="en-US" sz="1300" b="1" dirty="0">
                <a:solidFill>
                  <a:schemeClr val="tx1"/>
                </a:solidFill>
              </a:rPr>
              <a:t>Review that route: change the vehicle or plan the trip better.</a:t>
            </a:r>
            <a:endParaRPr lang="en-US" sz="1300" dirty="0"/>
          </a:p>
        </p:txBody>
      </p:sp>
      <p:sp>
        <p:nvSpPr>
          <p:cNvPr id="19" name="Speech Bubble: Rectangle 18">
            <a:extLst>
              <a:ext uri="{FF2B5EF4-FFF2-40B4-BE49-F238E27FC236}">
                <a16:creationId xmlns:a16="http://schemas.microsoft.com/office/drawing/2014/main" id="{ECB5AF84-1874-1DC0-2D46-197A9D72FCE5}"/>
              </a:ext>
            </a:extLst>
          </p:cNvPr>
          <p:cNvSpPr/>
          <p:nvPr/>
        </p:nvSpPr>
        <p:spPr>
          <a:xfrm>
            <a:off x="6094828" y="2354580"/>
            <a:ext cx="2591972" cy="1280160"/>
          </a:xfrm>
          <a:prstGeom prst="wedgeRectCallout">
            <a:avLst>
              <a:gd name="adj1" fmla="val -57978"/>
              <a:gd name="adj2" fmla="val -21351"/>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1083C474-67B1-4687-6791-54AA6E45FE5F}"/>
              </a:ext>
            </a:extLst>
          </p:cNvPr>
          <p:cNvPicPr>
            <a:picLocks noChangeAspect="1"/>
          </p:cNvPicPr>
          <p:nvPr/>
        </p:nvPicPr>
        <p:blipFill>
          <a:blip r:embed="rId5"/>
          <a:srcRect l="11000" t="46000" r="63000" b="35176"/>
          <a:stretch>
            <a:fillRect/>
          </a:stretch>
        </p:blipFill>
        <p:spPr>
          <a:xfrm>
            <a:off x="6202093" y="2459208"/>
            <a:ext cx="2377441" cy="10709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DE7AC50-54B1-1561-6F14-7AAA7C5414C0}"/>
              </a:ext>
            </a:extLst>
          </p:cNvPr>
          <p:cNvPicPr>
            <a:picLocks noChangeAspect="1"/>
          </p:cNvPicPr>
          <p:nvPr/>
        </p:nvPicPr>
        <p:blipFill>
          <a:blip r:embed="rId3"/>
          <a:stretch>
            <a:fillRect/>
          </a:stretch>
        </p:blipFill>
        <p:spPr>
          <a:xfrm>
            <a:off x="3017520" y="0"/>
            <a:ext cx="6126480" cy="5143500"/>
          </a:xfrm>
          <a:prstGeom prst="rect">
            <a:avLst/>
          </a:prstGeom>
        </p:spPr>
      </p:pic>
      <p:sp>
        <p:nvSpPr>
          <p:cNvPr id="2" name="Conclusion panel"/>
          <p:cNvSpPr/>
          <p:nvPr/>
        </p:nvSpPr>
        <p:spPr>
          <a:xfrm>
            <a:off x="0" y="0"/>
            <a:ext cx="3017520" cy="5143500"/>
          </a:xfrm>
          <a:prstGeom prst="rect">
            <a:avLst/>
          </a:prstGeom>
          <a:ln/>
        </p:spPr>
        <p:style>
          <a:lnRef idx="0">
            <a:schemeClr val="dk1"/>
          </a:lnRef>
          <a:fillRef idx="3">
            <a:schemeClr val="dk1"/>
          </a:fillRef>
          <a:effectRef idx="3">
            <a:schemeClr val="dk1"/>
          </a:effectRef>
          <a:fontRef idx="minor">
            <a:schemeClr val="lt1"/>
          </a:fontRef>
        </p:style>
      </p:sp>
      <p:sp>
        <p:nvSpPr>
          <p:cNvPr id="3" name="Text 1"/>
          <p:cNvSpPr txBox="1"/>
          <p:nvPr/>
        </p:nvSpPr>
        <p:spPr>
          <a:xfrm>
            <a:off x="411480" y="457200"/>
            <a:ext cx="2377440" cy="731520"/>
          </a:xfrm>
          <a:prstGeom prst="rect">
            <a:avLst/>
          </a:prstGeom>
          <a:noFill/>
          <a:ln/>
        </p:spPr>
        <p:txBody>
          <a:bodyPr wrap="square" lIns="0" tIns="0" rIns="0" bIns="0" rtlCol="0" anchor="ctr"/>
          <a:lstStyle/>
          <a:p>
            <a:pPr marL="0" indent="0">
              <a:buNone/>
            </a:pPr>
            <a:r>
              <a:rPr lang="en-US" sz="3000" b="1" dirty="0">
                <a:solidFill>
                  <a:schemeClr val="bg1"/>
                </a:solidFill>
                <a:latin typeface="Century Schoolbook" pitchFamily="34" charset="0"/>
                <a:ea typeface="Century Schoolbook" pitchFamily="34" charset="-122"/>
                <a:cs typeface="Century Schoolbook" pitchFamily="34" charset="-120"/>
              </a:rPr>
              <a:t>Conclusion</a:t>
            </a:r>
            <a:endParaRPr lang="en-US" sz="3000" dirty="0"/>
          </a:p>
        </p:txBody>
      </p:sp>
      <p:sp>
        <p:nvSpPr>
          <p:cNvPr id="4" name="Text 2"/>
          <p:cNvSpPr txBox="1"/>
          <p:nvPr/>
        </p:nvSpPr>
        <p:spPr>
          <a:xfrm>
            <a:off x="411480" y="1371600"/>
            <a:ext cx="2377440" cy="2743200"/>
          </a:xfrm>
          <a:prstGeom prst="rect">
            <a:avLst/>
          </a:prstGeom>
          <a:noFill/>
          <a:ln/>
        </p:spPr>
        <p:txBody>
          <a:bodyPr wrap="square" lIns="0" tIns="0" rIns="0" bIns="0" rtlCol="0" anchor="t"/>
          <a:lstStyle/>
          <a:p>
            <a:pPr marL="0" indent="0">
              <a:buNone/>
            </a:pPr>
            <a:r>
              <a:rPr lang="en-US" sz="1400" dirty="0">
                <a:solidFill>
                  <a:schemeClr val="bg2"/>
                </a:solidFill>
              </a:rPr>
              <a:t>SQL turns raw logistics tables into clear answers. Joining all nine tables shows where to restock, which vehicles and drivers perform best, and where delivery cost builds up.</a:t>
            </a:r>
            <a:endParaRPr lang="en-US" sz="1400" dirty="0"/>
          </a:p>
        </p:txBody>
      </p:sp>
      <p:sp>
        <p:nvSpPr>
          <p:cNvPr id="5" name="Takeaway card"/>
          <p:cNvSpPr/>
          <p:nvPr/>
        </p:nvSpPr>
        <p:spPr>
          <a:xfrm>
            <a:off x="3383280" y="548640"/>
            <a:ext cx="5303520" cy="1143000"/>
          </a:xfrm>
          <a:prstGeom prst="roundRect">
            <a:avLst>
              <a:gd name="adj" fmla="val 6400"/>
            </a:avLst>
          </a:prstGeom>
          <a:ln/>
        </p:spPr>
        <p:style>
          <a:lnRef idx="1">
            <a:schemeClr val="dk1"/>
          </a:lnRef>
          <a:fillRef idx="2">
            <a:schemeClr val="dk1"/>
          </a:fillRef>
          <a:effectRef idx="1">
            <a:schemeClr val="dk1"/>
          </a:effectRef>
          <a:fontRef idx="minor">
            <a:schemeClr val="dk1"/>
          </a:fontRef>
        </p:style>
      </p:sp>
      <p:sp>
        <p:nvSpPr>
          <p:cNvPr id="6" name="Icon circle"/>
          <p:cNvSpPr/>
          <p:nvPr/>
        </p:nvSpPr>
        <p:spPr>
          <a:xfrm>
            <a:off x="3611880" y="822960"/>
            <a:ext cx="594360" cy="594360"/>
          </a:xfrm>
          <a:prstGeom prst="ellipse">
            <a:avLst/>
          </a:prstGeom>
          <a:solidFill>
            <a:schemeClr val="accent2"/>
          </a:solidFill>
          <a:ln/>
        </p:spPr>
      </p:sp>
      <p:pic>
        <p:nvPicPr>
          <p:cNvPr id="7" name="Image 0" descr="Boxes icon"/>
          <p:cNvPicPr>
            <a:picLocks noChangeAspect="1"/>
          </p:cNvPicPr>
          <p:nvPr/>
        </p:nvPicPr>
        <p:blipFill>
          <a:blip r:embed="rId4"/>
          <a:stretch>
            <a:fillRect/>
          </a:stretch>
        </p:blipFill>
        <p:spPr>
          <a:xfrm>
            <a:off x="3772357" y="983437"/>
            <a:ext cx="273406" cy="273406"/>
          </a:xfrm>
          <a:prstGeom prst="rect">
            <a:avLst/>
          </a:prstGeom>
        </p:spPr>
      </p:pic>
      <p:sp>
        <p:nvSpPr>
          <p:cNvPr id="8" name="Text 5"/>
          <p:cNvSpPr txBox="1"/>
          <p:nvPr/>
        </p:nvSpPr>
        <p:spPr>
          <a:xfrm>
            <a:off x="4480560" y="548640"/>
            <a:ext cx="4023360" cy="1143000"/>
          </a:xfrm>
          <a:prstGeom prst="rect">
            <a:avLst/>
          </a:prstGeom>
          <a:noFill/>
          <a:ln/>
        </p:spPr>
        <p:txBody>
          <a:bodyPr wrap="square" lIns="0" tIns="0" rIns="0" bIns="0" rtlCol="0" anchor="ctr"/>
          <a:lstStyle/>
          <a:p>
            <a:pPr marL="0" indent="0">
              <a:buNone/>
            </a:pPr>
            <a:r>
              <a:rPr lang="en-US" sz="1700" b="1" dirty="0">
                <a:solidFill>
                  <a:schemeClr val="tx1"/>
                </a:solidFill>
              </a:rPr>
              <a:t>Stock</a:t>
            </a:r>
            <a:endParaRPr lang="en-US" sz="1300" dirty="0"/>
          </a:p>
          <a:p>
            <a:pPr marL="0" indent="0">
              <a:buNone/>
            </a:pPr>
            <a:r>
              <a:rPr lang="en-US" sz="1300" dirty="0">
                <a:solidFill>
                  <a:schemeClr val="tx1"/>
                </a:solidFill>
              </a:rPr>
              <a:t>Restock products with the largest shortfall first.</a:t>
            </a:r>
            <a:endParaRPr lang="en-US" sz="1300" dirty="0"/>
          </a:p>
        </p:txBody>
      </p:sp>
      <p:sp>
        <p:nvSpPr>
          <p:cNvPr id="9" name="Takeaway card"/>
          <p:cNvSpPr/>
          <p:nvPr/>
        </p:nvSpPr>
        <p:spPr>
          <a:xfrm>
            <a:off x="3383280" y="1920240"/>
            <a:ext cx="5303520" cy="1143000"/>
          </a:xfrm>
          <a:prstGeom prst="roundRect">
            <a:avLst>
              <a:gd name="adj" fmla="val 6400"/>
            </a:avLst>
          </a:prstGeom>
          <a:ln/>
        </p:spPr>
        <p:style>
          <a:lnRef idx="1">
            <a:schemeClr val="accent2"/>
          </a:lnRef>
          <a:fillRef idx="2">
            <a:schemeClr val="accent2"/>
          </a:fillRef>
          <a:effectRef idx="1">
            <a:schemeClr val="accent2"/>
          </a:effectRef>
          <a:fontRef idx="minor">
            <a:schemeClr val="dk1"/>
          </a:fontRef>
        </p:style>
      </p:sp>
      <p:sp>
        <p:nvSpPr>
          <p:cNvPr id="10" name="Icon circle"/>
          <p:cNvSpPr/>
          <p:nvPr/>
        </p:nvSpPr>
        <p:spPr>
          <a:xfrm>
            <a:off x="3611880" y="2194560"/>
            <a:ext cx="594360" cy="594360"/>
          </a:xfrm>
          <a:prstGeom prst="ellipse">
            <a:avLst/>
          </a:prstGeom>
          <a:solidFill>
            <a:schemeClr val="accent4"/>
          </a:solidFill>
          <a:ln/>
        </p:spPr>
      </p:sp>
      <p:pic>
        <p:nvPicPr>
          <p:cNvPr id="11" name="Image 1" descr="Truck icon"/>
          <p:cNvPicPr>
            <a:picLocks noChangeAspect="1"/>
          </p:cNvPicPr>
          <p:nvPr/>
        </p:nvPicPr>
        <p:blipFill>
          <a:blip r:embed="rId5"/>
          <a:stretch>
            <a:fillRect/>
          </a:stretch>
        </p:blipFill>
        <p:spPr>
          <a:xfrm>
            <a:off x="3772357" y="2355037"/>
            <a:ext cx="273406" cy="273406"/>
          </a:xfrm>
          <a:prstGeom prst="rect">
            <a:avLst/>
          </a:prstGeom>
        </p:spPr>
      </p:pic>
      <p:sp>
        <p:nvSpPr>
          <p:cNvPr id="12" name="Text 8"/>
          <p:cNvSpPr txBox="1"/>
          <p:nvPr/>
        </p:nvSpPr>
        <p:spPr>
          <a:xfrm>
            <a:off x="4480560" y="1920240"/>
            <a:ext cx="4023360" cy="1143000"/>
          </a:xfrm>
          <a:prstGeom prst="rect">
            <a:avLst/>
          </a:prstGeom>
          <a:noFill/>
          <a:ln/>
        </p:spPr>
        <p:txBody>
          <a:bodyPr wrap="square" lIns="0" tIns="0" rIns="0" bIns="0" rtlCol="0" anchor="ctr"/>
          <a:lstStyle/>
          <a:p>
            <a:pPr marL="0" indent="0">
              <a:buNone/>
            </a:pPr>
            <a:r>
              <a:rPr lang="en-US" sz="1700" b="1" dirty="0">
                <a:solidFill>
                  <a:schemeClr val="tx1"/>
                </a:solidFill>
              </a:rPr>
              <a:t>Fleet</a:t>
            </a:r>
            <a:endParaRPr lang="en-US" sz="1300" dirty="0"/>
          </a:p>
          <a:p>
            <a:pPr marL="0" indent="0">
              <a:buNone/>
            </a:pPr>
            <a:r>
              <a:rPr lang="en-US" sz="1300" dirty="0">
                <a:solidFill>
                  <a:schemeClr val="tx1"/>
                </a:solidFill>
              </a:rPr>
              <a:t>Use fuel efficiency and driver ratings when assigning vehicles.</a:t>
            </a:r>
            <a:endParaRPr lang="en-US" sz="1300" dirty="0"/>
          </a:p>
        </p:txBody>
      </p:sp>
      <p:sp>
        <p:nvSpPr>
          <p:cNvPr id="13" name="Takeaway card"/>
          <p:cNvSpPr/>
          <p:nvPr/>
        </p:nvSpPr>
        <p:spPr>
          <a:xfrm>
            <a:off x="3383280" y="3291840"/>
            <a:ext cx="5303520" cy="1143000"/>
          </a:xfrm>
          <a:prstGeom prst="roundRect">
            <a:avLst>
              <a:gd name="adj" fmla="val 6400"/>
            </a:avLst>
          </a:prstGeom>
          <a:ln/>
        </p:spPr>
        <p:style>
          <a:lnRef idx="1">
            <a:schemeClr val="accent6"/>
          </a:lnRef>
          <a:fillRef idx="2">
            <a:schemeClr val="accent6"/>
          </a:fillRef>
          <a:effectRef idx="1">
            <a:schemeClr val="accent6"/>
          </a:effectRef>
          <a:fontRef idx="minor">
            <a:schemeClr val="dk1"/>
          </a:fontRef>
        </p:style>
      </p:sp>
      <p:sp>
        <p:nvSpPr>
          <p:cNvPr id="14" name="Icon circle"/>
          <p:cNvSpPr/>
          <p:nvPr/>
        </p:nvSpPr>
        <p:spPr>
          <a:xfrm>
            <a:off x="3611880" y="3566160"/>
            <a:ext cx="594360" cy="594360"/>
          </a:xfrm>
          <a:prstGeom prst="ellipse">
            <a:avLst/>
          </a:prstGeom>
          <a:solidFill>
            <a:schemeClr val="accent3"/>
          </a:solidFill>
          <a:ln/>
        </p:spPr>
      </p:sp>
      <p:pic>
        <p:nvPicPr>
          <p:cNvPr id="15" name="Image 2" descr="MoneyBillWave icon"/>
          <p:cNvPicPr>
            <a:picLocks noChangeAspect="1"/>
          </p:cNvPicPr>
          <p:nvPr/>
        </p:nvPicPr>
        <p:blipFill>
          <a:blip r:embed="rId6"/>
          <a:stretch>
            <a:fillRect/>
          </a:stretch>
        </p:blipFill>
        <p:spPr>
          <a:xfrm>
            <a:off x="3772357" y="3726637"/>
            <a:ext cx="273406" cy="273406"/>
          </a:xfrm>
          <a:prstGeom prst="rect">
            <a:avLst/>
          </a:prstGeom>
        </p:spPr>
      </p:pic>
      <p:sp>
        <p:nvSpPr>
          <p:cNvPr id="16" name="Text 11"/>
          <p:cNvSpPr txBox="1"/>
          <p:nvPr/>
        </p:nvSpPr>
        <p:spPr>
          <a:xfrm>
            <a:off x="4480560" y="3291840"/>
            <a:ext cx="4023360" cy="1143000"/>
          </a:xfrm>
          <a:prstGeom prst="rect">
            <a:avLst/>
          </a:prstGeom>
          <a:noFill/>
          <a:ln/>
        </p:spPr>
        <p:txBody>
          <a:bodyPr wrap="square" lIns="0" tIns="0" rIns="0" bIns="0" rtlCol="0" anchor="ctr"/>
          <a:lstStyle/>
          <a:p>
            <a:pPr marL="0" indent="0">
              <a:buNone/>
            </a:pPr>
            <a:r>
              <a:rPr lang="en-US" sz="1700" b="1" dirty="0">
                <a:solidFill>
                  <a:schemeClr val="tx1"/>
                </a:solidFill>
              </a:rPr>
              <a:t>Cost</a:t>
            </a:r>
            <a:endParaRPr lang="en-US" sz="1300" dirty="0"/>
          </a:p>
          <a:p>
            <a:pPr marL="0" indent="0">
              <a:buNone/>
            </a:pPr>
            <a:r>
              <a:rPr lang="en-US" sz="1300" dirty="0">
                <a:solidFill>
                  <a:schemeClr val="tx1"/>
                </a:solidFill>
              </a:rPr>
              <a:t>Track fuel and delivery cost by route and by status.</a:t>
            </a:r>
            <a:endParaRPr lang="en-US" sz="1300" dirty="0"/>
          </a:p>
        </p:txBody>
      </p:sp>
      <p:sp>
        <p:nvSpPr>
          <p:cNvPr id="17" name="Text 12"/>
          <p:cNvSpPr txBox="1"/>
          <p:nvPr/>
        </p:nvSpPr>
        <p:spPr>
          <a:xfrm>
            <a:off x="3383280" y="4572000"/>
            <a:ext cx="5303520" cy="365760"/>
          </a:xfrm>
          <a:prstGeom prst="rect">
            <a:avLst/>
          </a:prstGeom>
          <a:noFill/>
          <a:ln/>
        </p:spPr>
        <p:txBody>
          <a:bodyPr wrap="square" lIns="0" tIns="0" rIns="0" bIns="0" rtlCol="0" anchor="ctr"/>
          <a:lstStyle/>
          <a:p>
            <a:pPr marL="0" indent="0">
              <a:buNone/>
            </a:pPr>
            <a:r>
              <a:rPr lang="en-US" sz="2400" b="1" dirty="0">
                <a:latin typeface="Arial Black" panose="020B0A04020102020204" pitchFamily="34" charset="0"/>
              </a:rPr>
              <a:t>Thank you</a:t>
            </a:r>
            <a:endParaRPr lang="en-US" sz="2400" dirty="0">
              <a:latin typeface="Arial Black" panose="020B0A04020102020204" pitchFamily="34" charset="0"/>
            </a:endParaRPr>
          </a:p>
        </p:txBody>
      </p:sp>
    </p:spTree>
  </p:cSld>
  <p:clrMapOvr>
    <a:masterClrMapping/>
  </p:clrMapOvr>
</p:sld>
</file>

<file path=ppt/theme/theme1.xml><?xml version="1.0" encoding="utf-8"?>
<a:theme xmlns:a="http://schemas.openxmlformats.org/drawingml/2006/main" name="LogiTrack Road">
  <a:themeElements>
    <a:clrScheme name="LogiTrack Road">
      <a:dk1>
        <a:srgbClr val="22272B"/>
      </a:dk1>
      <a:lt1>
        <a:srgbClr val="FFFFFF"/>
      </a:lt1>
      <a:dk2>
        <a:srgbClr val="3A4147"/>
      </a:dk2>
      <a:lt2>
        <a:srgbClr val="F2F3F5"/>
      </a:lt2>
      <a:accent1>
        <a:srgbClr val="FFB703"/>
      </a:accent1>
      <a:accent2>
        <a:srgbClr val="2A9D8F"/>
      </a:accent2>
      <a:accent3>
        <a:srgbClr val="E76F51"/>
      </a:accent3>
      <a:accent4>
        <a:srgbClr val="264653"/>
      </a:accent4>
      <a:accent5>
        <a:srgbClr val="8A9099"/>
      </a:accent5>
      <a:accent6>
        <a:srgbClr val="8AB17D"/>
      </a:accent6>
      <a:hlink>
        <a:srgbClr val="2A9D8F"/>
      </a:hlink>
      <a:folHlink>
        <a:srgbClr val="8A9099"/>
      </a:folHlink>
    </a:clrScheme>
    <a:fontScheme name="LogiTrack Road">
      <a:majorFont>
        <a:latin typeface="Century Schoolboo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1240</Words>
  <Application>Microsoft Office PowerPoint</Application>
  <PresentationFormat>On-screen Show (16:9)</PresentationFormat>
  <Paragraphs>156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Century Schoolbook</vt:lpstr>
      <vt:lpstr>Courier New</vt:lpstr>
      <vt:lpstr>LogiTrack Road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LogiTrack - SQL Analysis (Road Edition)</dc:title>
  <dc:subject>PptxGenJS Presentation</dc:subject>
  <dc:creator>Ashish</dc:creator>
  <cp:lastModifiedBy>Ashish Thakur</cp:lastModifiedBy>
  <cp:revision>6</cp:revision>
  <dcterms:created xsi:type="dcterms:W3CDTF">2026-10-02T04:28:34Z</dcterms:created>
  <dcterms:modified xsi:type="dcterms:W3CDTF">2026-10-02T09:08:33Z</dcterms:modified>
</cp:coreProperties>
</file>